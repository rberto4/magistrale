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0" r:id="rId2"/>
    <p:sldMasterId id="2147483674" r:id="rId3"/>
  </p:sldMasterIdLst>
  <p:notesMasterIdLst>
    <p:notesMasterId r:id="rId50"/>
  </p:notesMasterIdLst>
  <p:sldIdLst>
    <p:sldId id="537" r:id="rId4"/>
    <p:sldId id="514" r:id="rId5"/>
    <p:sldId id="515" r:id="rId6"/>
    <p:sldId id="516" r:id="rId7"/>
    <p:sldId id="517" r:id="rId8"/>
    <p:sldId id="518" r:id="rId9"/>
    <p:sldId id="519" r:id="rId10"/>
    <p:sldId id="520" r:id="rId11"/>
    <p:sldId id="521" r:id="rId12"/>
    <p:sldId id="522" r:id="rId13"/>
    <p:sldId id="523" r:id="rId14"/>
    <p:sldId id="525" r:id="rId15"/>
    <p:sldId id="524" r:id="rId16"/>
    <p:sldId id="540" r:id="rId17"/>
    <p:sldId id="526" r:id="rId18"/>
    <p:sldId id="527" r:id="rId19"/>
    <p:sldId id="528" r:id="rId20"/>
    <p:sldId id="529" r:id="rId21"/>
    <p:sldId id="530" r:id="rId22"/>
    <p:sldId id="531" r:id="rId23"/>
    <p:sldId id="532" r:id="rId24"/>
    <p:sldId id="538" r:id="rId25"/>
    <p:sldId id="533" r:id="rId26"/>
    <p:sldId id="534" r:id="rId27"/>
    <p:sldId id="535" r:id="rId28"/>
    <p:sldId id="539" r:id="rId29"/>
    <p:sldId id="542" r:id="rId30"/>
    <p:sldId id="543" r:id="rId31"/>
    <p:sldId id="544" r:id="rId32"/>
    <p:sldId id="545" r:id="rId33"/>
    <p:sldId id="546" r:id="rId34"/>
    <p:sldId id="547" r:id="rId35"/>
    <p:sldId id="548" r:id="rId36"/>
    <p:sldId id="549" r:id="rId37"/>
    <p:sldId id="541" r:id="rId38"/>
    <p:sldId id="550" r:id="rId39"/>
    <p:sldId id="551" r:id="rId40"/>
    <p:sldId id="552" r:id="rId41"/>
    <p:sldId id="553" r:id="rId42"/>
    <p:sldId id="554" r:id="rId43"/>
    <p:sldId id="555" r:id="rId44"/>
    <p:sldId id="556" r:id="rId45"/>
    <p:sldId id="557" r:id="rId46"/>
    <p:sldId id="558" r:id="rId47"/>
    <p:sldId id="559" r:id="rId48"/>
    <p:sldId id="560" r:id="rId4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04"/>
    <p:restoredTop sz="94636"/>
  </p:normalViewPr>
  <p:slideViewPr>
    <p:cSldViewPr snapToGrid="0" snapToObjects="1">
      <p:cViewPr varScale="1">
        <p:scale>
          <a:sx n="109" d="100"/>
          <a:sy n="109" d="100"/>
        </p:scale>
        <p:origin x="1100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slide" Target="slides/slide36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slide" Target="slides/slide39.xml"/><Relationship Id="rId47" Type="http://schemas.openxmlformats.org/officeDocument/2006/relationships/slide" Target="slides/slide44.xml"/><Relationship Id="rId50" Type="http://schemas.openxmlformats.org/officeDocument/2006/relationships/notesMaster" Target="notesMasters/notesMaster1.xml"/><Relationship Id="rId55" Type="http://schemas.openxmlformats.org/officeDocument/2006/relationships/customXml" Target="../customXml/item1.xml"/><Relationship Id="rId7" Type="http://schemas.openxmlformats.org/officeDocument/2006/relationships/slide" Target="slides/slide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9" Type="http://schemas.openxmlformats.org/officeDocument/2006/relationships/slide" Target="slides/slide26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53" Type="http://schemas.openxmlformats.org/officeDocument/2006/relationships/theme" Target="theme/theme1.xml"/><Relationship Id="rId5" Type="http://schemas.openxmlformats.org/officeDocument/2006/relationships/slide" Target="slides/slide2.xml"/><Relationship Id="rId19" Type="http://schemas.openxmlformats.org/officeDocument/2006/relationships/slide" Target="slides/slide16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slide" Target="slides/slide40.xml"/><Relationship Id="rId48" Type="http://schemas.openxmlformats.org/officeDocument/2006/relationships/slide" Target="slides/slide45.xml"/><Relationship Id="rId56" Type="http://schemas.openxmlformats.org/officeDocument/2006/relationships/customXml" Target="../customXml/item2.xml"/><Relationship Id="rId8" Type="http://schemas.openxmlformats.org/officeDocument/2006/relationships/slide" Target="slides/slide5.xml"/><Relationship Id="rId51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slide" Target="slides/slide43.xml"/><Relationship Id="rId20" Type="http://schemas.openxmlformats.org/officeDocument/2006/relationships/slide" Target="slides/slide17.xml"/><Relationship Id="rId41" Type="http://schemas.openxmlformats.org/officeDocument/2006/relationships/slide" Target="slides/slide38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slide" Target="slides/slide46.xml"/><Relationship Id="rId57" Type="http://schemas.openxmlformats.org/officeDocument/2006/relationships/customXml" Target="../customXml/item3.xml"/><Relationship Id="rId10" Type="http://schemas.openxmlformats.org/officeDocument/2006/relationships/slide" Target="slides/slide7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5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13173BB-0E40-4147-9340-27267C882F1A}" type="datetimeFigureOut">
              <a:rPr lang="it-IT" smtClean="0"/>
              <a:t>22/10/2025</a:t>
            </a:fld>
            <a:endParaRPr lang="it-I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FDB4562-4553-8A4A-9FDD-78E50A32359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5642566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7"/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3883852" y="8685331"/>
            <a:ext cx="2972547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7947" tIns="43973" rIns="87947" bIns="43973"/>
          <a:lstStyle>
            <a:lvl1pPr eaLnBrk="0" hangingPunct="0">
              <a:defRPr sz="2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9pPr>
          </a:lstStyle>
          <a:p>
            <a:pPr eaLnBrk="1" hangingPunct="1"/>
            <a:fld id="{FD088306-4894-FA46-B19E-C4BC36337A79}" type="slidenum">
              <a:rPr lang="it-IT" sz="1300">
                <a:latin typeface="Bookman Old Style" charset="0"/>
                <a:ea typeface="ＭＳ Ｐゴシック" charset="0"/>
                <a:cs typeface="ＭＳ Ｐゴシック" charset="0"/>
              </a:rPr>
              <a:pPr eaLnBrk="1" hangingPunct="1"/>
              <a:t>2</a:t>
            </a:fld>
            <a:endParaRPr lang="it-IT" sz="1300">
              <a:latin typeface="Bookman Old Style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184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4588" y="685800"/>
            <a:ext cx="4572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1843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en-GB">
              <a:latin typeface="Bookman Old Style" charset="0"/>
              <a:ea typeface="MS PGothic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49741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7"/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3883852" y="8685331"/>
            <a:ext cx="2972547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7947" tIns="43973" rIns="87947" bIns="43973"/>
          <a:lstStyle>
            <a:lvl1pPr eaLnBrk="0" hangingPunct="0">
              <a:defRPr sz="2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9pPr>
          </a:lstStyle>
          <a:p>
            <a:pPr eaLnBrk="1" hangingPunct="1"/>
            <a:fld id="{FB116306-A821-E747-8E8B-A5A0EE2C83D1}" type="slidenum">
              <a:rPr lang="it-IT" sz="1300">
                <a:latin typeface="Bookman Old Style" charset="0"/>
                <a:ea typeface="ＭＳ Ｐゴシック" charset="0"/>
                <a:cs typeface="ＭＳ Ｐゴシック" charset="0"/>
              </a:rPr>
              <a:pPr eaLnBrk="1" hangingPunct="1"/>
              <a:t>3</a:t>
            </a:fld>
            <a:endParaRPr lang="it-IT" sz="1300">
              <a:latin typeface="Bookman Old Style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204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4588" y="685800"/>
            <a:ext cx="4572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2048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en-GB">
              <a:latin typeface="Bookman Old Style" charset="0"/>
              <a:ea typeface="MS PGothic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416158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7"/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3883852" y="8685331"/>
            <a:ext cx="2972547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7947" tIns="43973" rIns="87947" bIns="43973"/>
          <a:lstStyle>
            <a:lvl1pPr eaLnBrk="0" hangingPunct="0">
              <a:defRPr sz="2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9pPr>
          </a:lstStyle>
          <a:p>
            <a:pPr eaLnBrk="1" hangingPunct="1"/>
            <a:fld id="{C14D3857-63B6-4A48-BA63-CFB00EDB5E9A}" type="slidenum">
              <a:rPr lang="it-IT" sz="1300">
                <a:latin typeface="Bookman Old Style" charset="0"/>
                <a:ea typeface="ＭＳ Ｐゴシック" charset="0"/>
                <a:cs typeface="ＭＳ Ｐゴシック" charset="0"/>
              </a:rPr>
              <a:pPr eaLnBrk="1" hangingPunct="1"/>
              <a:t>4</a:t>
            </a:fld>
            <a:endParaRPr lang="it-IT" sz="1300">
              <a:latin typeface="Bookman Old Style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22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4588" y="685800"/>
            <a:ext cx="4572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en-GB">
              <a:latin typeface="Bookman Old Style" charset="0"/>
              <a:ea typeface="MS PGothic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70758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74AE3C-BC36-F94C-9AD4-64D2E5CABFE1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379EFB-8A08-D24B-8917-8CFFCBF536C5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36785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74AE3C-BC36-F94C-9AD4-64D2E5CABFE1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379EFB-8A08-D24B-8917-8CFFCBF536C5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53035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74AE3C-BC36-F94C-9AD4-64D2E5CABFE1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379EFB-8A08-D24B-8917-8CFFCBF536C5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63547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74AE3C-BC36-F94C-9AD4-64D2E5CABFE1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379EFB-8A08-D24B-8917-8CFFCBF536C5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64289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74AE3C-BC36-F94C-9AD4-64D2E5CABFE1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379EFB-8A08-D24B-8917-8CFFCBF536C5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28452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74AE3C-BC36-F94C-9AD4-64D2E5CABFE1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379EFB-8A08-D24B-8917-8CFFCBF536C5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28808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74AE3C-BC36-F94C-9AD4-64D2E5CABFE1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379EFB-8A08-D24B-8917-8CFFCBF536C5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97451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74AE3C-BC36-F94C-9AD4-64D2E5CABFE1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379EFB-8A08-D24B-8917-8CFFCBF536C5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52470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74AE3C-BC36-F94C-9AD4-64D2E5CABFE1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379EFB-8A08-D24B-8917-8CFFCBF536C5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82829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74AE3C-BC36-F94C-9AD4-64D2E5CABFE1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379EFB-8A08-D24B-8917-8CFFCBF536C5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23317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74AE3C-BC36-F94C-9AD4-64D2E5CABFE1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379EFB-8A08-D24B-8917-8CFFCBF536C5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903464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iapositiva titolo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714409" y="3316799"/>
            <a:ext cx="7743791" cy="491016"/>
          </a:xfrm>
        </p:spPr>
        <p:txBody>
          <a:bodyPr>
            <a:noAutofit/>
          </a:bodyPr>
          <a:lstStyle>
            <a:lvl1pPr algn="ctr">
              <a:defRPr sz="3800" b="0" i="0">
                <a:latin typeface="+mn-lt"/>
                <a:cs typeface="Arial"/>
              </a:defRPr>
            </a:lvl1pPr>
          </a:lstStyle>
          <a:p>
            <a:r>
              <a:rPr lang="it-IT" dirty="0"/>
              <a:t>Fare clic per modificare stile</a:t>
            </a:r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714409" y="4065020"/>
            <a:ext cx="7743791" cy="580834"/>
          </a:xfrm>
        </p:spPr>
        <p:txBody>
          <a:bodyPr>
            <a:normAutofit/>
          </a:bodyPr>
          <a:lstStyle>
            <a:lvl1pPr marL="0" indent="0" algn="ctr">
              <a:buNone/>
              <a:defRPr sz="2000" b="0" i="0">
                <a:solidFill>
                  <a:schemeClr val="tx1">
                    <a:tint val="75000"/>
                  </a:schemeClr>
                </a:solidFill>
                <a:latin typeface="+mn-lt"/>
                <a:cs typeface="Arial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it-IT" dirty="0"/>
              <a:t>Fare clic per modificare lo stile del sottotitolo dello schema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FAAD09-1C82-FD45-B72F-64AF07B0037D}" type="datetimeFigureOut">
              <a:rPr lang="it-IT" smtClean="0"/>
              <a:t>22/10/2025</a:t>
            </a:fld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>
          <a:xfrm>
            <a:off x="6553199" y="6356350"/>
            <a:ext cx="2469527" cy="365125"/>
          </a:xfrm>
        </p:spPr>
        <p:txBody>
          <a:bodyPr/>
          <a:lstStyle/>
          <a:p>
            <a:fld id="{41F0553F-AB58-BB40-B1E5-B3CC067F59CC}" type="slidenum">
              <a:rPr lang="it-IT" smtClean="0"/>
              <a:t>‹N›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74028462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74AE3C-BC36-F94C-9AD4-64D2E5CABFE1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379EFB-8A08-D24B-8917-8CFFCBF536C5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971156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lIns="182880"/>
          <a:lstStyle>
            <a:lvl1pPr algn="l">
              <a:defRPr b="0" i="0">
                <a:latin typeface="Helvetica Light"/>
                <a:cs typeface="Helvetica Ligh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16000"/>
            <a:ext cx="8229600" cy="55441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0" y="839702"/>
            <a:ext cx="9144000" cy="0"/>
          </a:xfrm>
          <a:prstGeom prst="line">
            <a:avLst/>
          </a:prstGeom>
          <a:ln>
            <a:gradFill flip="none" rotWithShape="1">
              <a:gsLst>
                <a:gs pos="1000">
                  <a:schemeClr val="tx1"/>
                </a:gs>
                <a:gs pos="100000">
                  <a:srgbClr val="FFFFFF"/>
                </a:gs>
              </a:gsLst>
              <a:lin ang="0" scaled="1"/>
              <a:tileRect/>
            </a:gra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8704182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74AE3C-BC36-F94C-9AD4-64D2E5CABFE1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379EFB-8A08-D24B-8917-8CFFCBF536C5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758155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74AE3C-BC36-F94C-9AD4-64D2E5CABFE1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379EFB-8A08-D24B-8917-8CFFCBF536C5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315867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74AE3C-BC36-F94C-9AD4-64D2E5CABFE1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379EFB-8A08-D24B-8917-8CFFCBF536C5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323897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cxnSp>
        <p:nvCxnSpPr>
          <p:cNvPr id="7" name="Straight Connector 6"/>
          <p:cNvCxnSpPr/>
          <p:nvPr userDrawn="1"/>
        </p:nvCxnSpPr>
        <p:spPr>
          <a:xfrm>
            <a:off x="0" y="839702"/>
            <a:ext cx="9144000" cy="0"/>
          </a:xfrm>
          <a:prstGeom prst="line">
            <a:avLst/>
          </a:prstGeom>
          <a:ln>
            <a:gradFill flip="none" rotWithShape="1">
              <a:gsLst>
                <a:gs pos="1000">
                  <a:schemeClr val="tx1"/>
                </a:gs>
                <a:gs pos="100000">
                  <a:srgbClr val="FFFFFF"/>
                </a:gs>
              </a:gsLst>
              <a:lin ang="0" scaled="1"/>
              <a:tileRect/>
            </a:gra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5057694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74AE3C-BC36-F94C-9AD4-64D2E5CABFE1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379EFB-8A08-D24B-8917-8CFFCBF536C5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855266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74AE3C-BC36-F94C-9AD4-64D2E5CABFE1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379EFB-8A08-D24B-8917-8CFFCBF536C5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092514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74AE3C-BC36-F94C-9AD4-64D2E5CABFE1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379EFB-8A08-D24B-8917-8CFFCBF536C5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312609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74AE3C-BC36-F94C-9AD4-64D2E5CABFE1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379EFB-8A08-D24B-8917-8CFFCBF536C5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873881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74AE3C-BC36-F94C-9AD4-64D2E5CABFE1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379EFB-8A08-D24B-8917-8CFFCBF536C5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772052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6336352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381000" y="1411552"/>
            <a:ext cx="8382000" cy="2210862"/>
          </a:xfrm>
        </p:spPr>
        <p:txBody>
          <a:bodyPr/>
          <a:lstStyle>
            <a:lvl1pPr>
              <a:lnSpc>
                <a:spcPct val="90000"/>
              </a:lnSpc>
              <a:defRPr/>
            </a:lvl1pPr>
            <a:lvl2pPr>
              <a:lnSpc>
                <a:spcPct val="90000"/>
              </a:lnSpc>
              <a:defRPr/>
            </a:lvl2pPr>
            <a:lvl3pPr>
              <a:lnSpc>
                <a:spcPct val="90000"/>
              </a:lnSpc>
              <a:defRPr/>
            </a:lvl3pPr>
            <a:lvl4pPr>
              <a:lnSpc>
                <a:spcPct val="90000"/>
              </a:lnSpc>
              <a:defRPr/>
            </a:lvl4pPr>
            <a:lvl5pPr>
              <a:lnSpc>
                <a:spcPct val="90000"/>
              </a:lnSpc>
              <a:defRPr/>
            </a:lvl5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FD9BC8C-B00C-AA4F-84B2-79C551DFDB64}" type="slidenum">
              <a:rPr lang="it-IT" smtClean="0"/>
              <a:pPr/>
              <a:t>‹N›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97788638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 vert="horz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 vert="horz"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10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1D17A3B-4287-874A-8267-C2C1708A6E80}" type="slidenum">
              <a:rPr lang="en-US"/>
              <a:pPr>
                <a:defRPr/>
              </a:pPr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331837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0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62694BB-609C-C94B-BC59-B0E4F350D2D8}" type="slidenum">
              <a:rPr lang="en-US"/>
              <a:pPr>
                <a:defRPr/>
              </a:pPr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617270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vert="horz"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vert="horz"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10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8524665-73B0-DC48-BB80-11527812DDCD}" type="slidenum">
              <a:rPr lang="en-US"/>
              <a:pPr>
                <a:defRPr/>
              </a:pPr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222354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 vert="horz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 vert="horz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10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F79E85E-3F52-6A46-94BD-CE8E5804F45D}" type="slidenum">
              <a:rPr lang="en-US"/>
              <a:pPr>
                <a:defRPr/>
              </a:pPr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7096663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vert="horz"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 vert="horz"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vert="horz"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 vert="horz"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10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A1B9A3B-2E9A-B746-8D79-45F0E35FAEF2}" type="slidenum">
              <a:rPr lang="en-US"/>
              <a:pPr>
                <a:defRPr/>
              </a:pPr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041598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10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D9D870F-7105-2B4B-80BE-B9CDA1B4CD7B}" type="slidenum">
              <a:rPr lang="en-US"/>
              <a:pPr>
                <a:defRPr/>
              </a:pPr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0864923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0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FAA93F0-CE7D-D445-B425-BF2AA08BD129}" type="slidenum">
              <a:rPr lang="en-US"/>
              <a:pPr>
                <a:defRPr/>
              </a:pPr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6229662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vert="horz"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 vert="horz"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 vert="horz"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0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F948FE0-72B6-E246-9300-EF1DEADB0B29}" type="slidenum">
              <a:rPr lang="en-US"/>
              <a:pPr>
                <a:defRPr/>
              </a:pPr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4720715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vert="horz"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 vert="horz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 vert="horz"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0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28E8603-D3D9-4741-8AF6-215A1827CB0C}" type="slidenum">
              <a:rPr lang="en-US"/>
              <a:pPr>
                <a:defRPr/>
              </a:pPr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230970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0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83E343A-FE73-204B-8A88-A86162E344CF}" type="slidenum">
              <a:rPr lang="en-US"/>
              <a:pPr>
                <a:defRPr/>
              </a:pPr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2642670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0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2C9D21D-0EA3-124A-BB50-A38F341D8DEF}" type="slidenum">
              <a:rPr lang="en-US"/>
              <a:pPr>
                <a:defRPr/>
              </a:pPr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28862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5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3.xml"/><Relationship Id="rId3" Type="http://schemas.openxmlformats.org/officeDocument/2006/relationships/slideLayout" Target="../slideLayouts/slideLayout28.xml"/><Relationship Id="rId7" Type="http://schemas.openxmlformats.org/officeDocument/2006/relationships/slideLayout" Target="../slideLayouts/slideLayout32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7.xml"/><Relationship Id="rId1" Type="http://schemas.openxmlformats.org/officeDocument/2006/relationships/slideLayout" Target="../slideLayouts/slideLayout26.xml"/><Relationship Id="rId6" Type="http://schemas.openxmlformats.org/officeDocument/2006/relationships/slideLayout" Target="../slideLayouts/slideLayout31.xml"/><Relationship Id="rId11" Type="http://schemas.openxmlformats.org/officeDocument/2006/relationships/slideLayout" Target="../slideLayouts/slideLayout36.xml"/><Relationship Id="rId5" Type="http://schemas.openxmlformats.org/officeDocument/2006/relationships/slideLayout" Target="../slideLayouts/slideLayout30.xml"/><Relationship Id="rId10" Type="http://schemas.openxmlformats.org/officeDocument/2006/relationships/slideLayout" Target="../slideLayouts/slideLayout35.xml"/><Relationship Id="rId4" Type="http://schemas.openxmlformats.org/officeDocument/2006/relationships/slideLayout" Target="../slideLayouts/slideLayout29.xml"/><Relationship Id="rId9" Type="http://schemas.openxmlformats.org/officeDocument/2006/relationships/slideLayout" Target="../slideLayouts/slideLayout3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74AE3C-BC36-F94C-9AD4-64D2E5CABFE1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379EFB-8A08-D24B-8917-8CFFCBF536C5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99137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87" r:id="rId12"/>
  </p:sldLayoutIdLst>
  <p:txStyles>
    <p:titleStyle>
      <a:lvl1pPr algn="ctr" defTabSz="457200" rtl="0" eaLnBrk="1" latinLnBrk="0" hangingPunct="1">
        <a:spcBef>
          <a:spcPct val="0"/>
        </a:spcBef>
        <a:buNone/>
        <a:defRPr sz="4400" b="0" i="0" kern="1200">
          <a:solidFill>
            <a:schemeClr val="tx1"/>
          </a:solidFill>
          <a:latin typeface="Helvetica Light"/>
          <a:ea typeface="+mj-ea"/>
          <a:cs typeface="Helvetica Light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b="0" i="0" kern="1200">
          <a:solidFill>
            <a:schemeClr val="tx1"/>
          </a:solidFill>
          <a:latin typeface="Helvetica Light"/>
          <a:ea typeface="+mn-ea"/>
          <a:cs typeface="Helvetica Light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b="0" i="0" kern="1200">
          <a:solidFill>
            <a:schemeClr val="tx1"/>
          </a:solidFill>
          <a:latin typeface="Helvetica Light"/>
          <a:ea typeface="+mn-ea"/>
          <a:cs typeface="Helvetica Light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b="0" i="0" kern="1200">
          <a:solidFill>
            <a:schemeClr val="tx1"/>
          </a:solidFill>
          <a:latin typeface="Helvetica Light"/>
          <a:ea typeface="+mn-ea"/>
          <a:cs typeface="Helvetica Light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b="0" i="0" kern="1200">
          <a:solidFill>
            <a:schemeClr val="tx1"/>
          </a:solidFill>
          <a:latin typeface="Helvetica Light"/>
          <a:ea typeface="+mn-ea"/>
          <a:cs typeface="Helvetica Light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b="0" i="0" kern="1200">
          <a:solidFill>
            <a:schemeClr val="tx1"/>
          </a:solidFill>
          <a:latin typeface="Helvetica Light"/>
          <a:ea typeface="+mn-ea"/>
          <a:cs typeface="Helvetica Light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39702"/>
          </a:xfrm>
          <a:prstGeom prst="rect">
            <a:avLst/>
          </a:prstGeom>
        </p:spPr>
        <p:txBody>
          <a:bodyPr vert="horz" lIns="18288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74AE3C-BC36-F94C-9AD4-64D2E5CABFE1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379EFB-8A08-D24B-8917-8CFFCBF536C5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27120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3" r:id="rId12"/>
    <p:sldLayoutId id="2147483686" r:id="rId13"/>
  </p:sldLayoutIdLst>
  <p:txStyles>
    <p:titleStyle>
      <a:lvl1pPr algn="l" defTabSz="457200" rtl="0" eaLnBrk="1" latinLnBrk="0" hangingPunct="1">
        <a:spcBef>
          <a:spcPct val="0"/>
        </a:spcBef>
        <a:buNone/>
        <a:defRPr sz="4400" b="0" i="0" kern="1200">
          <a:solidFill>
            <a:schemeClr val="tx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latin typeface="Helvetica Light"/>
          <a:ea typeface="+mj-ea"/>
          <a:cs typeface="Helvetica Light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b="0" i="0" kern="1200">
          <a:solidFill>
            <a:schemeClr val="tx1"/>
          </a:solidFill>
          <a:latin typeface="Helvetica Light"/>
          <a:ea typeface="+mn-ea"/>
          <a:cs typeface="Helvetica Light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b="0" i="0" kern="1200">
          <a:solidFill>
            <a:schemeClr val="tx1"/>
          </a:solidFill>
          <a:latin typeface="Helvetica Light"/>
          <a:ea typeface="+mn-ea"/>
          <a:cs typeface="Helvetica Light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b="0" i="0" kern="1200">
          <a:solidFill>
            <a:schemeClr val="tx1"/>
          </a:solidFill>
          <a:latin typeface="Helvetica Light"/>
          <a:ea typeface="+mn-ea"/>
          <a:cs typeface="Helvetica Light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b="0" i="0" kern="1200">
          <a:solidFill>
            <a:schemeClr val="tx1"/>
          </a:solidFill>
          <a:latin typeface="Helvetica Light"/>
          <a:ea typeface="+mn-ea"/>
          <a:cs typeface="Helvetica Light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b="0" i="0" kern="1200">
          <a:solidFill>
            <a:schemeClr val="tx1"/>
          </a:solidFill>
          <a:latin typeface="Helvetica Light"/>
          <a:ea typeface="+mn-ea"/>
          <a:cs typeface="Helvetica Light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ext Box 2"/>
          <p:cNvSpPr txBox="1">
            <a:spLocks noChangeArrowheads="1"/>
          </p:cNvSpPr>
          <p:nvPr userDrawn="1"/>
        </p:nvSpPr>
        <p:spPr bwMode="auto">
          <a:xfrm>
            <a:off x="0" y="381000"/>
            <a:ext cx="9144000" cy="609600"/>
          </a:xfrm>
          <a:prstGeom prst="rect">
            <a:avLst/>
          </a:prstGeom>
          <a:gradFill rotWithShape="1">
            <a:gsLst>
              <a:gs pos="0">
                <a:srgbClr val="969696">
                  <a:alpha val="50000"/>
                </a:srgbClr>
              </a:gs>
              <a:gs pos="100000">
                <a:srgbClr val="969696">
                  <a:gamma/>
                  <a:tint val="22745"/>
                  <a:invGamma/>
                  <a:alpha val="50000"/>
                </a:srgbClr>
              </a:gs>
            </a:gsLst>
            <a:lin ang="0" scaled="1"/>
          </a:gradFill>
          <a:ln>
            <a:noFill/>
          </a:ln>
        </p:spPr>
        <p:txBody>
          <a:bodyPr lIns="1280160" tIns="0" rIns="0" bIns="0" anchor="b"/>
          <a:lstStyle>
            <a:lvl1pPr algn="ctr">
              <a:defRPr sz="1600">
                <a:solidFill>
                  <a:schemeClr val="tx1"/>
                </a:solidFill>
                <a:latin typeface="Arial" charset="0"/>
                <a:ea typeface="ＭＳ Ｐゴシック" charset="0"/>
                <a:cs typeface="Arial" charset="0"/>
              </a:defRPr>
            </a:lvl1pPr>
            <a:lvl2pPr marL="742950" indent="-285750" algn="ctr">
              <a:defRPr sz="16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algn="ctr">
              <a:defRPr sz="16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algn="ctr">
              <a:defRPr sz="16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algn="ctr">
              <a:defRPr sz="16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algn="l" eaLnBrk="1" hangingPunct="1">
              <a:defRPr/>
            </a:pPr>
            <a:r>
              <a:rPr lang="en-US" sz="4400" b="1" i="1" dirty="0">
                <a:effectLst>
                  <a:outerShdw blurRad="38100" dist="38100" dir="2700000" algn="tl">
                    <a:srgbClr val="FFFFFF"/>
                  </a:outerShdw>
                </a:effectLst>
                <a:latin typeface="Georgia"/>
                <a:cs typeface="Georgia"/>
              </a:rPr>
              <a:t>Outline</a:t>
            </a:r>
          </a:p>
        </p:txBody>
      </p:sp>
      <p:sp>
        <p:nvSpPr>
          <p:cNvPr id="5123" name="Rectangle 3"/>
          <p:cNvSpPr>
            <a:spLocks noChangeArrowheads="1"/>
          </p:cNvSpPr>
          <p:nvPr userDrawn="1"/>
        </p:nvSpPr>
        <p:spPr bwMode="auto">
          <a:xfrm>
            <a:off x="1457325" y="1352550"/>
            <a:ext cx="7391400" cy="2074414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marL="342900" indent="-342900" eaLnBrk="1" hangingPunct="1">
              <a:spcBef>
                <a:spcPct val="80000"/>
              </a:spcBef>
              <a:buSzPct val="100000"/>
              <a:buFont typeface="Wingdings" charset="0"/>
              <a:buChar char="§"/>
              <a:defRPr/>
            </a:pPr>
            <a:r>
              <a:rPr lang="en-US" sz="2800" b="0" i="0" dirty="0">
                <a:effectLst>
                  <a:outerShdw blurRad="38100" dist="38100" dir="2700000" algn="tl">
                    <a:srgbClr val="DDDDDD"/>
                  </a:outerShdw>
                </a:effectLst>
                <a:latin typeface="Helvetica Light"/>
                <a:cs typeface="Helvetica Light"/>
              </a:rPr>
              <a:t>Problem Statement</a:t>
            </a:r>
          </a:p>
          <a:p>
            <a:pPr marL="342900" indent="-342900" eaLnBrk="1" hangingPunct="1">
              <a:spcBef>
                <a:spcPct val="80000"/>
              </a:spcBef>
              <a:buSzPct val="100000"/>
              <a:buFont typeface="Wingdings" charset="0"/>
              <a:buChar char="§"/>
              <a:defRPr/>
            </a:pPr>
            <a:r>
              <a:rPr lang="en-US" sz="2800" b="0" i="0" dirty="0">
                <a:effectLst>
                  <a:outerShdw blurRad="38100" dist="38100" dir="2700000" algn="tl">
                    <a:srgbClr val="DDDDDD"/>
                  </a:outerShdw>
                </a:effectLst>
                <a:latin typeface="Helvetica Light"/>
                <a:cs typeface="Helvetica Light"/>
              </a:rPr>
              <a:t>Results</a:t>
            </a:r>
          </a:p>
          <a:p>
            <a:pPr marL="342900" indent="-342900" eaLnBrk="1" hangingPunct="1">
              <a:spcBef>
                <a:spcPct val="80000"/>
              </a:spcBef>
              <a:buSzPct val="100000"/>
              <a:buFont typeface="Wingdings" charset="0"/>
              <a:buChar char="§"/>
              <a:defRPr/>
            </a:pPr>
            <a:r>
              <a:rPr lang="en-US" sz="2800" b="0" i="0" dirty="0">
                <a:effectLst>
                  <a:outerShdw blurRad="38100" dist="38100" dir="2700000" algn="tl">
                    <a:srgbClr val="DDDDDD"/>
                  </a:outerShdw>
                </a:effectLst>
                <a:latin typeface="Helvetica Light"/>
                <a:cs typeface="Helvetica Light"/>
              </a:rPr>
              <a:t>Concluding Remarks</a:t>
            </a:r>
          </a:p>
        </p:txBody>
      </p:sp>
      <p:sp>
        <p:nvSpPr>
          <p:cNvPr id="2" name="Text Box 2"/>
          <p:cNvSpPr txBox="1">
            <a:spLocks noChangeArrowheads="1"/>
          </p:cNvSpPr>
          <p:nvPr userDrawn="1"/>
        </p:nvSpPr>
        <p:spPr bwMode="auto">
          <a:xfrm>
            <a:off x="381000" y="0"/>
            <a:ext cx="685800" cy="6858000"/>
          </a:xfrm>
          <a:prstGeom prst="rect">
            <a:avLst/>
          </a:prstGeom>
          <a:gradFill rotWithShape="1">
            <a:gsLst>
              <a:gs pos="0">
                <a:srgbClr val="969696">
                  <a:alpha val="50000"/>
                </a:srgbClr>
              </a:gs>
              <a:gs pos="100000">
                <a:srgbClr val="969696">
                  <a:gamma/>
                  <a:tint val="22353"/>
                  <a:invGamma/>
                  <a:alpha val="50000"/>
                </a:srgbClr>
              </a:gs>
            </a:gsLst>
            <a:lin ang="5400000" scaled="1"/>
          </a:gradFill>
          <a:ln>
            <a:noFill/>
          </a:ln>
          <a:effectLst/>
        </p:spPr>
        <p:txBody>
          <a:bodyPr lIns="0" tIns="0" rIns="0" bIns="0" anchor="b"/>
          <a:lstStyle>
            <a:lvl1pPr algn="l">
              <a:defRPr>
                <a:solidFill>
                  <a:schemeClr val="tx1"/>
                </a:solidFill>
                <a:latin typeface="Arial" charset="0"/>
                <a:ea typeface="ＭＳ Ｐゴシック" charset="0"/>
                <a:cs typeface="Arial" charset="0"/>
              </a:defRPr>
            </a:lvl1pPr>
            <a:lvl2pPr marL="742950" indent="-285750" algn="l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algn="l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algn="l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algn="l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algn="ctr" eaLnBrk="1" hangingPunct="1">
              <a:defRPr/>
            </a:pPr>
            <a:endParaRPr lang="en-US" sz="4400" i="1">
              <a:effectLst>
                <a:outerShdw blurRad="38100" dist="38100" dir="2700000" algn="tl">
                  <a:srgbClr val="FFFFFF"/>
                </a:outerShdw>
              </a:effectLst>
              <a:latin typeface="Times New Roman" charset="0"/>
              <a:cs typeface="Times New Roman" charset="0"/>
            </a:endParaRPr>
          </a:p>
        </p:txBody>
      </p:sp>
      <p:sp>
        <p:nvSpPr>
          <p:cNvPr id="12293" name="Rectangle 5"/>
          <p:cNvSpPr>
            <a:spLocks noChangeArrowheads="1"/>
          </p:cNvSpPr>
          <p:nvPr userDrawn="1"/>
        </p:nvSpPr>
        <p:spPr bwMode="auto">
          <a:xfrm>
            <a:off x="1066800" y="990600"/>
            <a:ext cx="8077200" cy="5867400"/>
          </a:xfrm>
          <a:prstGeom prst="rect">
            <a:avLst/>
          </a:prstGeom>
          <a:noFill/>
          <a:ln w="9525">
            <a:solidFill>
              <a:srgbClr val="B2B2B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 eaLnBrk="1" hangingPunct="1"/>
            <a:endParaRPr lang="en-US"/>
          </a:p>
        </p:txBody>
      </p:sp>
      <p:sp>
        <p:nvSpPr>
          <p:cNvPr id="12294" name="Rectangle 6"/>
          <p:cNvSpPr>
            <a:spLocks noChangeArrowheads="1"/>
          </p:cNvSpPr>
          <p:nvPr userDrawn="1"/>
        </p:nvSpPr>
        <p:spPr bwMode="auto">
          <a:xfrm>
            <a:off x="1066800" y="0"/>
            <a:ext cx="8077200" cy="381000"/>
          </a:xfrm>
          <a:prstGeom prst="rect">
            <a:avLst/>
          </a:prstGeom>
          <a:noFill/>
          <a:ln w="9525">
            <a:solidFill>
              <a:srgbClr val="B2B2B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 eaLnBrk="1" hangingPunct="1"/>
            <a:endParaRPr lang="en-US"/>
          </a:p>
        </p:txBody>
      </p:sp>
      <p:sp>
        <p:nvSpPr>
          <p:cNvPr id="12295" name="Rectangle 7"/>
          <p:cNvSpPr>
            <a:spLocks noChangeArrowheads="1"/>
          </p:cNvSpPr>
          <p:nvPr userDrawn="1"/>
        </p:nvSpPr>
        <p:spPr bwMode="auto">
          <a:xfrm>
            <a:off x="0" y="0"/>
            <a:ext cx="381000" cy="381000"/>
          </a:xfrm>
          <a:prstGeom prst="rect">
            <a:avLst/>
          </a:prstGeom>
          <a:noFill/>
          <a:ln w="9525">
            <a:solidFill>
              <a:srgbClr val="B2B2B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 eaLnBrk="1" hangingPunct="1"/>
            <a:endParaRPr lang="en-US"/>
          </a:p>
        </p:txBody>
      </p:sp>
      <p:sp>
        <p:nvSpPr>
          <p:cNvPr id="12296" name="Rectangle 8"/>
          <p:cNvSpPr>
            <a:spLocks noChangeArrowheads="1"/>
          </p:cNvSpPr>
          <p:nvPr userDrawn="1"/>
        </p:nvSpPr>
        <p:spPr bwMode="auto">
          <a:xfrm>
            <a:off x="0" y="990600"/>
            <a:ext cx="381000" cy="5867400"/>
          </a:xfrm>
          <a:prstGeom prst="rect">
            <a:avLst/>
          </a:prstGeom>
          <a:noFill/>
          <a:ln w="9525">
            <a:solidFill>
              <a:srgbClr val="B2B2B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 eaLnBrk="1" hangingPunct="1"/>
            <a:endParaRPr lang="en-US"/>
          </a:p>
        </p:txBody>
      </p:sp>
      <p:sp>
        <p:nvSpPr>
          <p:cNvPr id="5130" name="Rectangle 10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934200" y="6381750"/>
            <a:ext cx="21336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>
                <a:cs typeface="Arial" charset="0"/>
              </a:defRPr>
            </a:lvl1pPr>
          </a:lstStyle>
          <a:p>
            <a:pPr>
              <a:defRPr/>
            </a:pPr>
            <a:fld id="{CBF7EF36-4BFB-D04C-A447-68B3714DAEA5}" type="slidenum">
              <a:rPr lang="en-US"/>
              <a:pPr>
                <a:defRPr/>
              </a:pPr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00826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MS PGothic" panose="020B0600070205080204" pitchFamily="34" charset="-128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MS PGothic" panose="020B0600070205080204" pitchFamily="34" charset="-128"/>
          <a:cs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MS PGothic" panose="020B0600070205080204" pitchFamily="34" charset="-128"/>
          <a:cs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MS PGothic" panose="020B0600070205080204" pitchFamily="34" charset="-128"/>
          <a:cs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MS PGothic" panose="020B0600070205080204" pitchFamily="34" charset="-128"/>
          <a:cs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  <a:cs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  <a:cs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  <a:cs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  <a:cs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Arial" charset="0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Arial" charset="0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Arial" charset="0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Arial" charset="0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Arial" charset="0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Arial" charset="0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Arial" charset="0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Arial" charset="0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08978" y="2961994"/>
            <a:ext cx="7743791" cy="1426379"/>
          </a:xfrm>
        </p:spPr>
        <p:txBody>
          <a:bodyPr/>
          <a:lstStyle/>
          <a:p>
            <a:r>
              <a:rPr lang="it-IT" sz="4000" dirty="0">
                <a:solidFill>
                  <a:srgbClr val="376092"/>
                </a:solidFill>
                <a:latin typeface="Calibri" charset="0"/>
              </a:rPr>
              <a:t>New </a:t>
            </a:r>
            <a:r>
              <a:rPr lang="it-IT" sz="4000" dirty="0" err="1">
                <a:solidFill>
                  <a:srgbClr val="376092"/>
                </a:solidFill>
                <a:latin typeface="Calibri" charset="0"/>
              </a:rPr>
              <a:t>infrastructures</a:t>
            </a:r>
            <a:r>
              <a:rPr lang="it-IT" sz="4000" dirty="0">
                <a:solidFill>
                  <a:srgbClr val="376092"/>
                </a:solidFill>
                <a:latin typeface="Calibri" charset="0"/>
              </a:rPr>
              <a:t> for Big Data: </a:t>
            </a:r>
            <a:r>
              <a:rPr lang="it-IT" sz="4000" dirty="0" err="1">
                <a:solidFill>
                  <a:srgbClr val="376092"/>
                </a:solidFill>
                <a:latin typeface="Calibri" charset="0"/>
              </a:rPr>
              <a:t>NoSQL</a:t>
            </a:r>
            <a:r>
              <a:rPr lang="it-IT" sz="4000" dirty="0">
                <a:solidFill>
                  <a:srgbClr val="376092"/>
                </a:solidFill>
                <a:latin typeface="Calibri" charset="0"/>
              </a:rPr>
              <a:t> Databases</a:t>
            </a:r>
            <a:endParaRPr lang="en-GB" dirty="0">
              <a:solidFill>
                <a:srgbClr val="37609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859744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22475" y="676275"/>
            <a:ext cx="5194300" cy="733425"/>
          </a:xfrm>
        </p:spPr>
        <p:txBody>
          <a:bodyPr/>
          <a:lstStyle/>
          <a:p>
            <a:pPr>
              <a:defRPr/>
            </a:pPr>
            <a:r>
              <a:rPr lang="en-US" sz="4000" b="1" dirty="0">
                <a:solidFill>
                  <a:srgbClr val="376092"/>
                </a:solidFill>
                <a:latin typeface="+mn-lt"/>
              </a:rPr>
              <a:t>VOLUME and VELOCITY</a:t>
            </a:r>
          </a:p>
        </p:txBody>
      </p:sp>
      <p:sp>
        <p:nvSpPr>
          <p:cNvPr id="17410" name="Rectangle 3"/>
          <p:cNvSpPr>
            <a:spLocks noGrp="1" noChangeArrowheads="1"/>
          </p:cNvSpPr>
          <p:nvPr>
            <p:ph idx="1"/>
          </p:nvPr>
        </p:nvSpPr>
        <p:spPr>
          <a:xfrm>
            <a:off x="290513" y="1709738"/>
            <a:ext cx="8580437" cy="4252912"/>
          </a:xfrm>
        </p:spPr>
        <p:txBody>
          <a:bodyPr>
            <a:normAutofit lnSpcReduction="10000"/>
          </a:bodyPr>
          <a:lstStyle/>
          <a:p>
            <a:r>
              <a:rPr lang="en-US" dirty="0">
                <a:latin typeface="Arial Unicode MS" charset="0"/>
                <a:ea typeface="MS PGothic" charset="0"/>
              </a:rPr>
              <a:t>A transaction represents the typical elementary unit of work of a Database Server </a:t>
            </a:r>
            <a:br>
              <a:rPr lang="en-US" dirty="0">
                <a:latin typeface="Arial Unicode MS" charset="0"/>
                <a:ea typeface="MS PGothic" charset="0"/>
              </a:rPr>
            </a:br>
            <a:endParaRPr lang="en-US" dirty="0">
              <a:latin typeface="Arial Unicode MS" charset="0"/>
              <a:ea typeface="MS PGothic" charset="0"/>
            </a:endParaRPr>
          </a:p>
          <a:p>
            <a:r>
              <a:rPr lang="en-US" dirty="0">
                <a:latin typeface="Arial Unicode MS" charset="0"/>
                <a:ea typeface="MS PGothic" charset="0"/>
              </a:rPr>
              <a:t>A transaction identifies a unit of work performed by an application</a:t>
            </a:r>
          </a:p>
          <a:p>
            <a:endParaRPr lang="en-US" dirty="0">
              <a:latin typeface="Arial Unicode MS" charset="0"/>
              <a:ea typeface="MS PGothic" charset="0"/>
            </a:endParaRPr>
          </a:p>
          <a:p>
            <a:r>
              <a:rPr lang="en-US" dirty="0">
                <a:latin typeface="Arial Unicode MS" charset="0"/>
                <a:ea typeface="MS PGothic" charset="0"/>
              </a:rPr>
              <a:t>We also have </a:t>
            </a:r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  <a:latin typeface="Arial Unicode MS" charset="0"/>
                <a:ea typeface="MS PGothic" charset="0"/>
              </a:rPr>
              <a:t>VARIETY</a:t>
            </a:r>
            <a:r>
              <a:rPr lang="en-US" dirty="0">
                <a:latin typeface="Arial Unicode MS" charset="0"/>
                <a:ea typeface="MS PGothic" charset="0"/>
              </a:rPr>
              <a:t> and </a:t>
            </a:r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  <a:latin typeface="Arial Unicode MS" charset="0"/>
                <a:ea typeface="MS PGothic" charset="0"/>
              </a:rPr>
              <a:t>VERACITY</a:t>
            </a:r>
            <a:endParaRPr lang="it-IT" dirty="0">
              <a:solidFill>
                <a:schemeClr val="tx2">
                  <a:lumMod val="60000"/>
                  <a:lumOff val="40000"/>
                </a:schemeClr>
              </a:solidFill>
              <a:latin typeface="Arial Unicode MS" charset="0"/>
              <a:ea typeface="MS PGothic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4625856"/>
      </p:ext>
    </p:extLst>
  </p:cSld>
  <p:clrMapOvr>
    <a:masterClrMapping/>
  </p:clrMapOvr>
  <p:transition spd="slow" advClick="0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it-IT" sz="4000" dirty="0" err="1">
                <a:latin typeface="+mn-lt"/>
              </a:rPr>
              <a:t>Transactions</a:t>
            </a:r>
            <a:endParaRPr lang="en-GB" sz="4000" dirty="0">
              <a:latin typeface="+mn-lt"/>
            </a:endParaRPr>
          </a:p>
        </p:txBody>
      </p:sp>
      <p:sp>
        <p:nvSpPr>
          <p:cNvPr id="19458" name="Rectangle 3"/>
          <p:cNvSpPr>
            <a:spLocks noGrp="1" noChangeArrowheads="1"/>
          </p:cNvSpPr>
          <p:nvPr>
            <p:ph idx="1"/>
          </p:nvPr>
        </p:nvSpPr>
        <p:spPr>
          <a:xfrm>
            <a:off x="525463" y="1270000"/>
            <a:ext cx="8229600" cy="4111625"/>
          </a:xfrm>
        </p:spPr>
        <p:txBody>
          <a:bodyPr>
            <a:normAutofit fontScale="92500" lnSpcReduction="10000"/>
          </a:bodyPr>
          <a:lstStyle/>
          <a:p>
            <a:endParaRPr lang="en-US">
              <a:latin typeface="Arial Unicode MS" charset="0"/>
              <a:ea typeface="MS PGothic" charset="0"/>
            </a:endParaRPr>
          </a:p>
          <a:p>
            <a:r>
              <a:rPr lang="en-US">
                <a:latin typeface="Arial Unicode MS" charset="0"/>
                <a:ea typeface="MS PGothic" charset="0"/>
              </a:rPr>
              <a:t>The classical DBMSs (also distributed) are transactional systems: they provide a mechanism for the definition and execution of transactions </a:t>
            </a:r>
          </a:p>
          <a:p>
            <a:r>
              <a:rPr lang="en-US">
                <a:latin typeface="Arial Unicode MS" charset="0"/>
                <a:ea typeface="MS PGothic" charset="0"/>
              </a:rPr>
              <a:t>In the execution of a transaction the ACID </a:t>
            </a:r>
            <a:br>
              <a:rPr lang="en-US">
                <a:latin typeface="Arial Unicode MS" charset="0"/>
                <a:ea typeface="MS PGothic" charset="0"/>
              </a:rPr>
            </a:br>
            <a:r>
              <a:rPr lang="en-US">
                <a:latin typeface="Arial Unicode MS" charset="0"/>
                <a:ea typeface="MS PGothic" charset="0"/>
              </a:rPr>
              <a:t>properties must be guaranteed </a:t>
            </a:r>
          </a:p>
          <a:p>
            <a:r>
              <a:rPr lang="en-US">
                <a:latin typeface="Arial Unicode MS" charset="0"/>
                <a:ea typeface="MS PGothic" charset="0"/>
              </a:rPr>
              <a:t>New DBMS have been proposed that are not transactional systems</a:t>
            </a:r>
          </a:p>
        </p:txBody>
      </p:sp>
    </p:spTree>
    <p:extLst>
      <p:ext uri="{BB962C8B-B14F-4D97-AF65-F5344CB8AC3E}">
        <p14:creationId xmlns:p14="http://schemas.microsoft.com/office/powerpoint/2010/main" val="36738812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it-IT" dirty="0"/>
              <a:t> </a:t>
            </a:r>
            <a:r>
              <a:rPr lang="it-IT" sz="4400" dirty="0">
                <a:latin typeface="+mn-lt"/>
              </a:rPr>
              <a:t>ACID</a:t>
            </a:r>
            <a:endParaRPr lang="en-GB" sz="4400" dirty="0">
              <a:latin typeface="+mn-lt"/>
            </a:endParaRPr>
          </a:p>
        </p:txBody>
      </p:sp>
      <p:sp>
        <p:nvSpPr>
          <p:cNvPr id="21506" name="Rectangle 3"/>
          <p:cNvSpPr>
            <a:spLocks noGrp="1" noChangeArrowheads="1"/>
          </p:cNvSpPr>
          <p:nvPr>
            <p:ph idx="1"/>
          </p:nvPr>
        </p:nvSpPr>
        <p:spPr>
          <a:xfrm>
            <a:off x="273050" y="1455738"/>
            <a:ext cx="8580438" cy="5402262"/>
          </a:xfrm>
        </p:spPr>
        <p:txBody>
          <a:bodyPr/>
          <a:lstStyle/>
          <a:p>
            <a:r>
              <a:rPr lang="en-US" sz="2800" u="sng">
                <a:solidFill>
                  <a:srgbClr val="FF0000"/>
                </a:solidFill>
                <a:latin typeface="Arial Unicode MS" charset="0"/>
                <a:ea typeface="MS PGothic" charset="0"/>
              </a:rPr>
              <a:t>A</a:t>
            </a:r>
            <a:r>
              <a:rPr lang="en-US" sz="2800" u="sng">
                <a:latin typeface="Arial Unicode MS" charset="0"/>
                <a:ea typeface="MS PGothic" charset="0"/>
              </a:rPr>
              <a:t>tomicity: </a:t>
            </a:r>
            <a:r>
              <a:rPr lang="en-US" sz="2800">
                <a:latin typeface="Arial Unicode MS" charset="0"/>
                <a:ea typeface="MS PGothic" charset="0"/>
              </a:rPr>
              <a:t>A transaction is an indivisible unit of execution</a:t>
            </a:r>
          </a:p>
          <a:p>
            <a:r>
              <a:rPr lang="en-US" sz="2800" u="sng">
                <a:solidFill>
                  <a:srgbClr val="FF0000"/>
                </a:solidFill>
                <a:latin typeface="Arial Unicode MS" charset="0"/>
                <a:ea typeface="MS PGothic" charset="0"/>
              </a:rPr>
              <a:t>C</a:t>
            </a:r>
            <a:r>
              <a:rPr lang="en-US" sz="2800" u="sng">
                <a:latin typeface="Arial Unicode MS" charset="0"/>
                <a:ea typeface="MS PGothic" charset="0"/>
              </a:rPr>
              <a:t>onsistency: </a:t>
            </a:r>
            <a:r>
              <a:rPr lang="en-US" sz="2800">
                <a:latin typeface="Arial Unicode MS" charset="0"/>
                <a:ea typeface="MS PGothic" charset="0"/>
              </a:rPr>
              <a:t>the execution of a transaction must not violate the integrity constraints defined on the database</a:t>
            </a:r>
          </a:p>
          <a:p>
            <a:r>
              <a:rPr lang="en-US" sz="2800" u="sng">
                <a:solidFill>
                  <a:srgbClr val="FF0000"/>
                </a:solidFill>
                <a:latin typeface="Arial Unicode MS" charset="0"/>
                <a:ea typeface="MS PGothic" charset="0"/>
              </a:rPr>
              <a:t>I</a:t>
            </a:r>
            <a:r>
              <a:rPr lang="en-US" sz="2800" u="sng">
                <a:latin typeface="Arial Unicode MS" charset="0"/>
                <a:ea typeface="MS PGothic" charset="0"/>
              </a:rPr>
              <a:t>solation: </a:t>
            </a:r>
            <a:r>
              <a:rPr lang="en-US" sz="2800">
                <a:latin typeface="Arial Unicode MS" charset="0"/>
                <a:ea typeface="MS PGothic" charset="0"/>
              </a:rPr>
              <a:t>the execution of a transaction is not affected by the execution of other concurrent transactions</a:t>
            </a:r>
          </a:p>
          <a:p>
            <a:r>
              <a:rPr lang="en-US" sz="2800">
                <a:latin typeface="Arial Unicode MS" charset="0"/>
                <a:ea typeface="MS PGothic" charset="0"/>
              </a:rPr>
              <a:t>Persistence (</a:t>
            </a:r>
            <a:r>
              <a:rPr lang="en-US" sz="2800" u="sng">
                <a:solidFill>
                  <a:srgbClr val="FF0000"/>
                </a:solidFill>
                <a:latin typeface="Arial Unicode MS" charset="0"/>
                <a:ea typeface="MS PGothic" charset="0"/>
              </a:rPr>
              <a:t>D</a:t>
            </a:r>
            <a:r>
              <a:rPr lang="en-US" sz="2800" u="sng">
                <a:latin typeface="Arial Unicode MS" charset="0"/>
                <a:ea typeface="MS PGothic" charset="0"/>
              </a:rPr>
              <a:t>urability</a:t>
            </a:r>
            <a:r>
              <a:rPr lang="en-US" sz="2800">
                <a:latin typeface="Arial Unicode MS" charset="0"/>
                <a:ea typeface="MS PGothic" charset="0"/>
              </a:rPr>
              <a:t>): The effects of a successful transaction must be permanent</a:t>
            </a:r>
            <a:endParaRPr lang="it-IT" sz="2800">
              <a:latin typeface="Arial Unicode MS" charset="0"/>
              <a:ea typeface="MS PGothic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471783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it-IT" sz="4400" dirty="0" err="1">
                <a:latin typeface="+mn-lt"/>
              </a:rPr>
              <a:t>NoSQL</a:t>
            </a:r>
            <a:r>
              <a:rPr lang="it-IT" sz="4400" dirty="0">
                <a:latin typeface="+mn-lt"/>
              </a:rPr>
              <a:t> </a:t>
            </a:r>
            <a:r>
              <a:rPr lang="it-IT" sz="4400" dirty="0" err="1">
                <a:latin typeface="+mn-lt"/>
              </a:rPr>
              <a:t>databases</a:t>
            </a:r>
            <a:endParaRPr lang="en-US" sz="4400" dirty="0">
              <a:latin typeface="+mn-lt"/>
            </a:endParaRPr>
          </a:p>
        </p:txBody>
      </p:sp>
      <p:sp>
        <p:nvSpPr>
          <p:cNvPr id="23554" name="Content Placeholder 4"/>
          <p:cNvSpPr>
            <a:spLocks noGrp="1"/>
          </p:cNvSpPr>
          <p:nvPr>
            <p:ph idx="1"/>
          </p:nvPr>
        </p:nvSpPr>
        <p:spPr>
          <a:xfrm>
            <a:off x="323850" y="1347788"/>
            <a:ext cx="8580438" cy="5021262"/>
          </a:xfrm>
        </p:spPr>
        <p:txBody>
          <a:bodyPr>
            <a:normAutofit lnSpcReduction="10000"/>
          </a:bodyPr>
          <a:lstStyle/>
          <a:p>
            <a:r>
              <a:rPr lang="en-US" dirty="0">
                <a:latin typeface="Arial Unicode MS" charset="0"/>
                <a:ea typeface="MS PGothic" charset="0"/>
              </a:rPr>
              <a:t>It has been realized that it is not always necessary that a system for data management guarantees all transactional characteristics</a:t>
            </a:r>
          </a:p>
          <a:p>
            <a:r>
              <a:rPr lang="en-US" dirty="0">
                <a:latin typeface="Arial Unicode MS" charset="0"/>
                <a:ea typeface="MS PGothic" charset="0"/>
              </a:rPr>
              <a:t>The non-transactional DBMSs are commonly called </a:t>
            </a:r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  <a:latin typeface="Arial Unicode MS" charset="0"/>
                <a:ea typeface="MS PGothic" charset="0"/>
              </a:rPr>
              <a:t>NoSQL DBMSs </a:t>
            </a:r>
          </a:p>
          <a:p>
            <a:r>
              <a:rPr lang="en-US" dirty="0">
                <a:latin typeface="Arial Unicode MS" charset="0"/>
                <a:ea typeface="MS PGothic" charset="0"/>
              </a:rPr>
              <a:t>This really is not correct, because the fact that a system is relational (and uses the SQL language) and that it has transactional characteristics are </a:t>
            </a:r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  <a:latin typeface="Arial Unicode MS" charset="0"/>
                <a:ea typeface="MS PGothic" charset="0"/>
              </a:rPr>
              <a:t>independent</a:t>
            </a:r>
          </a:p>
        </p:txBody>
      </p:sp>
    </p:spTree>
    <p:extLst>
      <p:ext uri="{BB962C8B-B14F-4D97-AF65-F5344CB8AC3E}">
        <p14:creationId xmlns:p14="http://schemas.microsoft.com/office/powerpoint/2010/main" val="42851781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itolo 1"/>
          <p:cNvSpPr>
            <a:spLocks noGrp="1"/>
          </p:cNvSpPr>
          <p:nvPr>
            <p:ph type="title"/>
          </p:nvPr>
        </p:nvSpPr>
        <p:spPr>
          <a:xfrm>
            <a:off x="660400" y="609600"/>
            <a:ext cx="7772400" cy="666750"/>
          </a:xfrm>
        </p:spPr>
        <p:txBody>
          <a:bodyPr/>
          <a:lstStyle/>
          <a:p>
            <a:pPr>
              <a:defRPr/>
            </a:pPr>
            <a:r>
              <a:rPr lang="it-IT" sz="3200" dirty="0">
                <a:latin typeface="+mn-lt"/>
              </a:rPr>
              <a:t>BIG DATA and the </a:t>
            </a:r>
            <a:r>
              <a:rPr lang="it-IT" sz="3200" dirty="0" err="1">
                <a:latin typeface="+mn-lt"/>
              </a:rPr>
              <a:t>Cloud</a:t>
            </a:r>
            <a:endParaRPr lang="en-GB" sz="3200" dirty="0">
              <a:latin typeface="+mn-lt"/>
            </a:endParaRPr>
          </a:p>
        </p:txBody>
      </p:sp>
      <p:sp>
        <p:nvSpPr>
          <p:cNvPr id="24578" name="Segnaposto contenuto 2"/>
          <p:cNvSpPr>
            <a:spLocks noGrp="1"/>
          </p:cNvSpPr>
          <p:nvPr>
            <p:ph idx="1"/>
          </p:nvPr>
        </p:nvSpPr>
        <p:spPr>
          <a:xfrm>
            <a:off x="552450" y="1419225"/>
            <a:ext cx="8124825" cy="4676775"/>
          </a:xfrm>
        </p:spPr>
        <p:txBody>
          <a:bodyPr/>
          <a:lstStyle/>
          <a:p>
            <a:pPr>
              <a:buFontTx/>
              <a:buNone/>
            </a:pPr>
            <a:r>
              <a:rPr lang="en-US" sz="2000">
                <a:latin typeface="Arial Unicode MS" charset="0"/>
                <a:ea typeface="MS PGothic" charset="0"/>
              </a:rPr>
              <a:t>DATA CLOUDS: </a:t>
            </a:r>
            <a:br>
              <a:rPr lang="en-US" sz="2000">
                <a:latin typeface="Arial Unicode MS" charset="0"/>
                <a:ea typeface="MS PGothic" charset="0"/>
              </a:rPr>
            </a:br>
            <a:r>
              <a:rPr lang="en-US" sz="2000" u="sng">
                <a:solidFill>
                  <a:srgbClr val="FF0000"/>
                </a:solidFill>
                <a:latin typeface="Arial Unicode MS" charset="0"/>
                <a:ea typeface="MS PGothic" charset="0"/>
              </a:rPr>
              <a:t>ON DEMAND </a:t>
            </a:r>
            <a:r>
              <a:rPr lang="en-US" sz="2000">
                <a:solidFill>
                  <a:srgbClr val="FF0000"/>
                </a:solidFill>
                <a:latin typeface="Arial Unicode MS" charset="0"/>
                <a:ea typeface="MS PGothic" charset="0"/>
              </a:rPr>
              <a:t>STORAGE SERVICES</a:t>
            </a:r>
            <a:r>
              <a:rPr lang="en-US" sz="2000">
                <a:latin typeface="Arial Unicode MS" charset="0"/>
                <a:ea typeface="MS PGothic" charset="0"/>
              </a:rPr>
              <a:t>, reliable, offered on the Internet with easy access to a virtually infinite number of storage resources, computing and network </a:t>
            </a:r>
            <a:br>
              <a:rPr lang="en-US" sz="2000">
                <a:latin typeface="Arial Unicode MS" charset="0"/>
                <a:ea typeface="MS PGothic" charset="0"/>
              </a:rPr>
            </a:br>
            <a:endParaRPr lang="en-US" sz="2000">
              <a:latin typeface="Arial Unicode MS" charset="0"/>
              <a:ea typeface="MS PGothic" charset="0"/>
            </a:endParaRPr>
          </a:p>
          <a:p>
            <a:pPr>
              <a:buFontTx/>
              <a:buNone/>
            </a:pPr>
            <a:r>
              <a:rPr lang="en-US" sz="2000">
                <a:latin typeface="Arial Unicode MS" charset="0"/>
                <a:ea typeface="MS PGothic" charset="0"/>
              </a:rPr>
              <a:t>CLASSIFICATION OF POSSIBLE METHODS OF STORAGE: </a:t>
            </a:r>
          </a:p>
          <a:p>
            <a:r>
              <a:rPr lang="en-US" sz="2000">
                <a:solidFill>
                  <a:srgbClr val="FF0000"/>
                </a:solidFill>
                <a:latin typeface="Arial Unicode MS" charset="0"/>
                <a:ea typeface="MS PGothic" charset="0"/>
              </a:rPr>
              <a:t>Centralized or distributed</a:t>
            </a:r>
            <a:r>
              <a:rPr lang="en-US" sz="2000">
                <a:latin typeface="Arial Unicode MS" charset="0"/>
                <a:ea typeface="MS PGothic" charset="0"/>
              </a:rPr>
              <a:t>, transactional, based on a traditional model (eg relational) remain the most widely used for traditional business applications (business information systems etc.).</a:t>
            </a:r>
          </a:p>
          <a:p>
            <a:r>
              <a:rPr lang="en-US" sz="2000">
                <a:solidFill>
                  <a:srgbClr val="FF0000"/>
                </a:solidFill>
                <a:latin typeface="Arial Unicode MS" charset="0"/>
                <a:ea typeface="MS PGothic" charset="0"/>
              </a:rPr>
              <a:t>Federated and multi-databases, </a:t>
            </a:r>
            <a:r>
              <a:rPr lang="en-US" sz="2000">
                <a:latin typeface="Arial Unicode MS" charset="0"/>
                <a:ea typeface="MS PGothic" charset="0"/>
              </a:rPr>
              <a:t>generally  for companies and organizations that are associated and share their data on the Internet </a:t>
            </a:r>
          </a:p>
          <a:p>
            <a:r>
              <a:rPr lang="en-US" sz="2000">
                <a:solidFill>
                  <a:srgbClr val="FF0000"/>
                </a:solidFill>
                <a:latin typeface="Arial Unicode MS" charset="0"/>
                <a:ea typeface="MS PGothic" charset="0"/>
              </a:rPr>
              <a:t>Cloud databases</a:t>
            </a:r>
            <a:r>
              <a:rPr lang="en-US" sz="2000">
                <a:latin typeface="Arial Unicode MS" charset="0"/>
                <a:ea typeface="MS PGothic" charset="0"/>
              </a:rPr>
              <a:t>, to support BIG DATA by means of load sharing and data partitioning</a:t>
            </a:r>
            <a:endParaRPr lang="it-IT" sz="2000">
              <a:latin typeface="Bookman Old Style" charset="0"/>
              <a:ea typeface="MS PGothic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15759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itolo 1"/>
          <p:cNvSpPr>
            <a:spLocks noGrp="1"/>
          </p:cNvSpPr>
          <p:nvPr>
            <p:ph type="title"/>
          </p:nvPr>
        </p:nvSpPr>
        <p:spPr>
          <a:xfrm>
            <a:off x="693738" y="0"/>
            <a:ext cx="7772400" cy="666750"/>
          </a:xfrm>
        </p:spPr>
        <p:txBody>
          <a:bodyPr/>
          <a:lstStyle/>
          <a:p>
            <a:pPr>
              <a:defRPr/>
            </a:pPr>
            <a:r>
              <a:rPr lang="en-US" sz="3600" dirty="0" err="1">
                <a:latin typeface="+mn-lt"/>
              </a:rPr>
              <a:t>NoSQL</a:t>
            </a:r>
            <a:r>
              <a:rPr lang="en-US" sz="3600" dirty="0">
                <a:latin typeface="+mn-lt"/>
              </a:rPr>
              <a:t> databases</a:t>
            </a:r>
          </a:p>
        </p:txBody>
      </p:sp>
      <p:sp>
        <p:nvSpPr>
          <p:cNvPr id="25602" name="Segnaposto contenuto 2"/>
          <p:cNvSpPr>
            <a:spLocks noGrp="1"/>
          </p:cNvSpPr>
          <p:nvPr>
            <p:ph idx="1"/>
          </p:nvPr>
        </p:nvSpPr>
        <p:spPr>
          <a:xfrm>
            <a:off x="203200" y="896938"/>
            <a:ext cx="8770938" cy="5199062"/>
          </a:xfrm>
        </p:spPr>
        <p:txBody>
          <a:bodyPr>
            <a:normAutofit lnSpcReduction="10000"/>
          </a:bodyPr>
          <a:lstStyle/>
          <a:p>
            <a:r>
              <a:rPr lang="en-US" sz="2400" dirty="0">
                <a:latin typeface="Arial Unicode MS" charset="0"/>
                <a:ea typeface="MS PGothic" charset="0"/>
              </a:rPr>
              <a:t>Provide flexible schemas</a:t>
            </a:r>
          </a:p>
          <a:p>
            <a:r>
              <a:rPr lang="en-US" sz="2400" dirty="0">
                <a:latin typeface="Arial Unicode MS" charset="0"/>
                <a:ea typeface="MS PGothic" charset="0"/>
              </a:rPr>
              <a:t>The updates are performed asynchronously (no explicit support for concurrency)</a:t>
            </a:r>
          </a:p>
          <a:p>
            <a:r>
              <a:rPr lang="en-US" sz="2400" dirty="0">
                <a:latin typeface="Arial Unicode MS" charset="0"/>
                <a:ea typeface="MS PGothic" charset="0"/>
              </a:rPr>
              <a:t>Potential inconsistencies in the data must be solved directly by users</a:t>
            </a:r>
          </a:p>
          <a:p>
            <a:r>
              <a:rPr lang="en-US" sz="2400" dirty="0">
                <a:latin typeface="Arial Unicode MS" charset="0"/>
                <a:ea typeface="MS PGothic" charset="0"/>
              </a:rPr>
              <a:t>Scalability: </a:t>
            </a:r>
            <a:r>
              <a:rPr lang="en-US" sz="2400" dirty="0">
                <a:solidFill>
                  <a:schemeClr val="tx2">
                    <a:lumMod val="60000"/>
                    <a:lumOff val="40000"/>
                  </a:schemeClr>
                </a:solidFill>
                <a:latin typeface="Arial Unicode MS" charset="0"/>
                <a:ea typeface="MS PGothic" charset="0"/>
              </a:rPr>
              <a:t>no joins</a:t>
            </a:r>
            <a:r>
              <a:rPr lang="en-US" sz="2400" dirty="0">
                <a:latin typeface="Arial Unicode MS" charset="0"/>
                <a:ea typeface="MS PGothic" charset="0"/>
              </a:rPr>
              <a:t>, ease of clustering, no 2PhaseCommit </a:t>
            </a:r>
          </a:p>
          <a:p>
            <a:r>
              <a:rPr lang="en-US" sz="2400" dirty="0">
                <a:latin typeface="Arial Unicode MS" charset="0"/>
                <a:ea typeface="MS PGothic" charset="0"/>
              </a:rPr>
              <a:t>Evolution to  a “simpler” schema: key/value-based, semi/non-structured</a:t>
            </a:r>
          </a:p>
          <a:p>
            <a:r>
              <a:rPr lang="en-US" sz="2400" dirty="0">
                <a:latin typeface="Arial Unicode MS" charset="0"/>
                <a:ea typeface="MS PGothic" charset="0"/>
              </a:rPr>
              <a:t>Object-oriented friendly </a:t>
            </a:r>
          </a:p>
          <a:p>
            <a:r>
              <a:rPr lang="en-US" sz="2400" dirty="0">
                <a:latin typeface="Arial Unicode MS" charset="0"/>
                <a:ea typeface="MS PGothic" charset="0"/>
              </a:rPr>
              <a:t>Caching easier (often embedded)</a:t>
            </a:r>
          </a:p>
          <a:p>
            <a:r>
              <a:rPr lang="en-US" sz="2400" dirty="0">
                <a:latin typeface="Arial Unicode MS" charset="0"/>
                <a:ea typeface="MS PGothic" charset="0"/>
              </a:rPr>
              <a:t>Easily evolved to live replicas and node addition, made ​​possible by the simplicity of repartitioning of data</a:t>
            </a:r>
          </a:p>
          <a:p>
            <a:r>
              <a:rPr lang="en-US" sz="2400" dirty="0">
                <a:latin typeface="Arial Unicode MS" charset="0"/>
                <a:ea typeface="MS PGothic" charset="0"/>
              </a:rPr>
              <a:t>DO NOT support all the ACID properties </a:t>
            </a:r>
          </a:p>
          <a:p>
            <a:endParaRPr lang="it-IT" sz="2400" dirty="0">
              <a:solidFill>
                <a:schemeClr val="tx2"/>
              </a:solidFill>
              <a:latin typeface="Bookman Old Style" charset="0"/>
              <a:ea typeface="MS PGothic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905048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4000" dirty="0">
                <a:latin typeface="+mn-lt"/>
              </a:rPr>
              <a:t>DATA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Font typeface="Wingdings" charset="0"/>
              <a:buNone/>
              <a:defRPr/>
            </a:pPr>
            <a:r>
              <a:rPr lang="en-US" dirty="0"/>
              <a:t>3/4 categories:</a:t>
            </a:r>
          </a:p>
          <a:p>
            <a:pPr>
              <a:defRPr/>
            </a:pPr>
            <a:r>
              <a:rPr lang="en-US" sz="2800" dirty="0"/>
              <a:t>Key–Value</a:t>
            </a:r>
          </a:p>
          <a:p>
            <a:pPr>
              <a:defRPr/>
            </a:pPr>
            <a:r>
              <a:rPr lang="en-US" sz="2800" dirty="0"/>
              <a:t>Document–based</a:t>
            </a:r>
          </a:p>
          <a:p>
            <a:pPr>
              <a:defRPr/>
            </a:pPr>
            <a:r>
              <a:rPr lang="en-US" sz="2800" dirty="0"/>
              <a:t>Column–family</a:t>
            </a:r>
          </a:p>
          <a:p>
            <a:pPr>
              <a:defRPr/>
            </a:pPr>
            <a:r>
              <a:rPr lang="en-US" sz="2800" dirty="0"/>
              <a:t>Graph-based</a:t>
            </a:r>
            <a:br>
              <a:rPr lang="en-US" sz="2800" dirty="0"/>
            </a:br>
            <a:endParaRPr lang="en-US" sz="2800" dirty="0"/>
          </a:p>
          <a:p>
            <a:pPr marL="0" indent="0">
              <a:buFont typeface="Wingdings" charset="0"/>
              <a:buNone/>
              <a:defRPr/>
            </a:pPr>
            <a:r>
              <a:rPr lang="en-US" sz="2800" dirty="0"/>
              <a:t> ... Graphs not treated here, a separate evolutionary path from the other categories. They rely heavily on  </a:t>
            </a:r>
            <a:r>
              <a:rPr lang="en-US" sz="2800" dirty="0">
                <a:solidFill>
                  <a:srgbClr val="FF0000"/>
                </a:solidFill>
              </a:rPr>
              <a:t>modeling relationships </a:t>
            </a:r>
            <a:br>
              <a:rPr lang="en-US" sz="2800" dirty="0"/>
            </a:br>
            <a:endParaRPr lang="en-US" sz="2800" dirty="0"/>
          </a:p>
        </p:txBody>
      </p:sp>
      <p:sp>
        <p:nvSpPr>
          <p:cNvPr id="26627" name="Slide Number Placeholder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9pPr>
          </a:lstStyle>
          <a:p>
            <a:pPr eaLnBrk="1" hangingPunct="1"/>
            <a:fld id="{ACAB5D69-CFB5-274F-AA0D-7110B064C662}" type="slidenum">
              <a:rPr lang="en-US" sz="1000">
                <a:solidFill>
                  <a:srgbClr val="46586C"/>
                </a:solidFill>
                <a:latin typeface="Arial Unicode MS" charset="0"/>
              </a:rPr>
              <a:pPr eaLnBrk="1" hangingPunct="1"/>
              <a:t>8</a:t>
            </a:fld>
            <a:endParaRPr lang="en-US" sz="1000">
              <a:solidFill>
                <a:srgbClr val="46586C"/>
              </a:solidFill>
              <a:latin typeface="Arial Unicode M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679301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4400" dirty="0">
                <a:latin typeface="+mn-lt"/>
              </a:rPr>
              <a:t>Key -Value</a:t>
            </a:r>
            <a:endParaRPr lang="en-US" sz="6000" dirty="0">
              <a:latin typeface="+mn-lt"/>
            </a:endParaRPr>
          </a:p>
        </p:txBody>
      </p:sp>
      <p:sp>
        <p:nvSpPr>
          <p:cNvPr id="27650" name="Content Placeholder 2"/>
          <p:cNvSpPr>
            <a:spLocks noGrp="1"/>
          </p:cNvSpPr>
          <p:nvPr>
            <p:ph idx="1"/>
          </p:nvPr>
        </p:nvSpPr>
        <p:spPr>
          <a:xfrm>
            <a:off x="409575" y="1625600"/>
            <a:ext cx="8580438" cy="4675188"/>
          </a:xfrm>
        </p:spPr>
        <p:txBody>
          <a:bodyPr/>
          <a:lstStyle/>
          <a:p>
            <a:r>
              <a:rPr lang="en-US">
                <a:latin typeface="Arial Unicode MS" charset="0"/>
                <a:ea typeface="MS PGothic" charset="0"/>
              </a:rPr>
              <a:t>Classical reference model of NoSQL systems</a:t>
            </a:r>
          </a:p>
          <a:p>
            <a:r>
              <a:rPr lang="en-US">
                <a:latin typeface="Arial Unicode MS" charset="0"/>
                <a:ea typeface="MS PGothic" charset="0"/>
              </a:rPr>
              <a:t>Key: single or compound</a:t>
            </a:r>
          </a:p>
          <a:p>
            <a:r>
              <a:rPr lang="en-US">
                <a:latin typeface="Arial Unicode MS" charset="0"/>
                <a:ea typeface="MS PGothic" charset="0"/>
              </a:rPr>
              <a:t>Value: blob, " opaque”</a:t>
            </a:r>
          </a:p>
          <a:p>
            <a:r>
              <a:rPr lang="en-US">
                <a:latin typeface="Arial Unicode MS" charset="0"/>
                <a:ea typeface="MS PGothic" charset="0"/>
              </a:rPr>
              <a:t>Querying = find by key</a:t>
            </a:r>
          </a:p>
          <a:p>
            <a:r>
              <a:rPr lang="en-US">
                <a:latin typeface="Arial Unicode MS" charset="0"/>
                <a:ea typeface="MS PGothic" charset="0"/>
              </a:rPr>
              <a:t>No schema (a dictionary)</a:t>
            </a:r>
          </a:p>
          <a:p>
            <a:r>
              <a:rPr lang="en-US">
                <a:latin typeface="Arial Unicode MS" charset="0"/>
                <a:ea typeface="MS PGothic" charset="0"/>
              </a:rPr>
              <a:t>Standard APIs: get / put / delete</a:t>
            </a:r>
          </a:p>
        </p:txBody>
      </p:sp>
      <p:sp>
        <p:nvSpPr>
          <p:cNvPr id="27651" name="Slide Number Placeholder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9pPr>
          </a:lstStyle>
          <a:p>
            <a:pPr eaLnBrk="1" hangingPunct="1"/>
            <a:fld id="{C3EA261E-3046-E747-8C76-EFB804D19D5B}" type="slidenum">
              <a:rPr lang="en-US" sz="1000">
                <a:solidFill>
                  <a:srgbClr val="46586C"/>
                </a:solidFill>
                <a:latin typeface="Arial Unicode MS" charset="0"/>
              </a:rPr>
              <a:pPr eaLnBrk="1" hangingPunct="1"/>
              <a:t>9</a:t>
            </a:fld>
            <a:endParaRPr lang="en-US" sz="1000">
              <a:solidFill>
                <a:srgbClr val="46586C"/>
              </a:solidFill>
              <a:latin typeface="Arial Unicode M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035873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Content Placeholder 2"/>
          <p:cNvSpPr>
            <a:spLocks noGrp="1"/>
          </p:cNvSpPr>
          <p:nvPr>
            <p:ph idx="1"/>
          </p:nvPr>
        </p:nvSpPr>
        <p:spPr>
          <a:xfrm>
            <a:off x="290513" y="833933"/>
            <a:ext cx="8616950" cy="3222129"/>
          </a:xfrm>
        </p:spPr>
        <p:txBody>
          <a:bodyPr/>
          <a:lstStyle/>
          <a:p>
            <a:endParaRPr lang="en-US" sz="2400" dirty="0">
              <a:latin typeface="Arial Unicode MS" charset="0"/>
              <a:ea typeface="MS PGothic" charset="0"/>
            </a:endParaRPr>
          </a:p>
          <a:p>
            <a:r>
              <a:rPr lang="en-US" sz="2400" dirty="0">
                <a:latin typeface="Arial Unicode MS" charset="0"/>
                <a:ea typeface="MS PGothic" charset="0"/>
              </a:rPr>
              <a:t>Joins limit scalability </a:t>
            </a:r>
          </a:p>
          <a:p>
            <a:r>
              <a:rPr lang="en-US" sz="2400" dirty="0">
                <a:latin typeface="Arial Unicode MS" charset="0"/>
                <a:ea typeface="MS PGothic" charset="0"/>
              </a:rPr>
              <a:t>No relationships in the database </a:t>
            </a:r>
            <a:r>
              <a:rPr lang="en-US" sz="2400" dirty="0">
                <a:latin typeface="Arial Unicode MS" charset="0"/>
                <a:ea typeface="MS PGothic" charset="0"/>
                <a:sym typeface="Wingdings" charset="0"/>
              </a:rPr>
              <a:t></a:t>
            </a:r>
            <a:r>
              <a:rPr lang="en-US" sz="2400" dirty="0">
                <a:latin typeface="Arial Unicode MS" charset="0"/>
                <a:ea typeface="MS PGothic" charset="0"/>
              </a:rPr>
              <a:t> easier to scale!</a:t>
            </a:r>
          </a:p>
          <a:p>
            <a:r>
              <a:rPr lang="en-US" sz="2400" dirty="0">
                <a:latin typeface="Arial Unicode MS" charset="0"/>
                <a:ea typeface="MS PGothic" charset="0"/>
              </a:rPr>
              <a:t>Decoupled and denormalized  entities are ‘self-contained' </a:t>
            </a:r>
          </a:p>
          <a:p>
            <a:r>
              <a:rPr lang="en-US" sz="2400" dirty="0">
                <a:latin typeface="Arial Unicode MS" charset="0"/>
                <a:ea typeface="MS PGothic" charset="0"/>
              </a:rPr>
              <a:t>We can move them to different machines without having to worry about “</a:t>
            </a:r>
            <a:r>
              <a:rPr lang="en-US" altLang="ja-JP" sz="2400" dirty="0">
                <a:latin typeface="Arial Unicode MS" charset="0"/>
                <a:ea typeface="MS PGothic" charset="0"/>
              </a:rPr>
              <a:t>neighborhood</a:t>
            </a:r>
            <a:r>
              <a:rPr lang="en-US" sz="2400" dirty="0">
                <a:latin typeface="Arial Unicode MS" charset="0"/>
                <a:ea typeface="MS PGothic" charset="0"/>
              </a:rPr>
              <a:t>”</a:t>
            </a:r>
            <a:r>
              <a:rPr lang="en-US" altLang="ja-JP" sz="2400" dirty="0">
                <a:latin typeface="Arial Unicode MS" charset="0"/>
                <a:ea typeface="MS PGothic" charset="0"/>
              </a:rPr>
              <a:t>!</a:t>
            </a:r>
          </a:p>
          <a:p>
            <a:r>
              <a:rPr lang="en-US" sz="2400" dirty="0" err="1">
                <a:latin typeface="Arial Unicode MS" charset="0"/>
                <a:ea typeface="MS PGothic" charset="0"/>
              </a:rPr>
              <a:t>Sharding</a:t>
            </a:r>
            <a:r>
              <a:rPr lang="en-US" sz="2400" dirty="0">
                <a:latin typeface="Arial Unicode MS" charset="0"/>
                <a:ea typeface="MS PGothic" charset="0"/>
              </a:rPr>
              <a:t> (horizontal partitioning)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0513" y="185738"/>
            <a:ext cx="8670475" cy="733425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 sz="4800" dirty="0"/>
              <a:t>Key-Value: Scaling on multiple nodes</a:t>
            </a:r>
            <a:endParaRPr lang="en-US" sz="4800" dirty="0">
              <a:latin typeface="+mn-lt"/>
            </a:endParaRPr>
          </a:p>
        </p:txBody>
      </p:sp>
      <p:sp>
        <p:nvSpPr>
          <p:cNvPr id="28675" name="Footer Placeholder 4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9pPr>
          </a:lstStyle>
          <a:p>
            <a:pPr eaLnBrk="1" hangingPunct="1"/>
            <a:r>
              <a:rPr lang="en-US" sz="1100">
                <a:solidFill>
                  <a:srgbClr val="46586C"/>
                </a:solidFill>
                <a:latin typeface="Arial Unicode MS" charset="0"/>
              </a:rPr>
              <a:t>© 2007 - CEFRIEL</a:t>
            </a:r>
          </a:p>
        </p:txBody>
      </p:sp>
      <p:sp>
        <p:nvSpPr>
          <p:cNvPr id="28676" name="Slide Number Placeholder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9pPr>
          </a:lstStyle>
          <a:p>
            <a:pPr eaLnBrk="1" hangingPunct="1"/>
            <a:fld id="{05C835A4-A7AB-E341-802B-DF94C8EAA8C0}" type="slidenum">
              <a:rPr lang="en-US" sz="1100">
                <a:solidFill>
                  <a:srgbClr val="46586C"/>
                </a:solidFill>
                <a:latin typeface="Arial Unicode MS" charset="0"/>
              </a:rPr>
              <a:pPr eaLnBrk="1" hangingPunct="1"/>
              <a:t>10</a:t>
            </a:fld>
            <a:endParaRPr lang="en-US" sz="1100">
              <a:solidFill>
                <a:srgbClr val="46586C"/>
              </a:solidFill>
              <a:latin typeface="Arial Unicode MS" charset="0"/>
            </a:endParaRPr>
          </a:p>
        </p:txBody>
      </p:sp>
      <p:pic>
        <p:nvPicPr>
          <p:cNvPr id="28677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9138" y="4056063"/>
            <a:ext cx="7670800" cy="264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639098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sz="4000" dirty="0">
                <a:latin typeface="+mn-lt"/>
              </a:rPr>
              <a:t>Map Reduce</a:t>
            </a:r>
          </a:p>
        </p:txBody>
      </p:sp>
      <p:sp>
        <p:nvSpPr>
          <p:cNvPr id="29698" name="Slide Number Placeholder 2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9pPr>
          </a:lstStyle>
          <a:p>
            <a:pPr eaLnBrk="1" hangingPunct="1"/>
            <a:fld id="{4483D8B6-2AE7-F84F-80D0-1E7C95BACD07}" type="slidenum">
              <a:rPr lang="en-US" sz="1000">
                <a:solidFill>
                  <a:srgbClr val="46586C"/>
                </a:solidFill>
                <a:latin typeface="Arial Unicode MS" charset="0"/>
              </a:rPr>
              <a:pPr eaLnBrk="1" hangingPunct="1"/>
              <a:t>11</a:t>
            </a:fld>
            <a:endParaRPr lang="en-US" sz="1000">
              <a:solidFill>
                <a:srgbClr val="46586C"/>
              </a:solidFill>
              <a:latin typeface="Arial Unicode MS" charset="0"/>
            </a:endParaRPr>
          </a:p>
        </p:txBody>
      </p:sp>
      <p:pic>
        <p:nvPicPr>
          <p:cNvPr id="29699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460500"/>
            <a:ext cx="9144000" cy="391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397348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sz="3600" dirty="0">
                <a:latin typeface="+mn-lt"/>
              </a:rPr>
              <a:t>Map-reduce paradigm</a:t>
            </a:r>
          </a:p>
        </p:txBody>
      </p:sp>
      <p:sp>
        <p:nvSpPr>
          <p:cNvPr id="31746" name="Content Placeholder 2"/>
          <p:cNvSpPr>
            <a:spLocks noGrp="1"/>
          </p:cNvSpPr>
          <p:nvPr>
            <p:ph idx="1"/>
          </p:nvPr>
        </p:nvSpPr>
        <p:spPr>
          <a:xfrm>
            <a:off x="307975" y="1296988"/>
            <a:ext cx="8580438" cy="5021262"/>
          </a:xfrm>
        </p:spPr>
        <p:txBody>
          <a:bodyPr>
            <a:normAutofit lnSpcReduction="10000"/>
          </a:bodyPr>
          <a:lstStyle/>
          <a:p>
            <a:r>
              <a:rPr lang="en-US" sz="2400" dirty="0">
                <a:latin typeface="Arial Unicode MS" charset="0"/>
                <a:ea typeface="MS PGothic" charset="0"/>
              </a:rPr>
              <a:t>Apache Hadoop was the first high-impact proposal</a:t>
            </a:r>
          </a:p>
          <a:p>
            <a:pPr lvl="1"/>
            <a:r>
              <a:rPr lang="en-US" sz="2000" dirty="0">
                <a:latin typeface="Arial Unicode MS" charset="0"/>
                <a:ea typeface="MS PGothic" charset="0"/>
              </a:rPr>
              <a:t>Hadoop 1.0 only had HDFS and MapReduce</a:t>
            </a:r>
          </a:p>
          <a:p>
            <a:r>
              <a:rPr lang="en-US" sz="2400" dirty="0">
                <a:latin typeface="Arial Unicode MS" charset="0"/>
                <a:ea typeface="MS PGothic" charset="0"/>
              </a:rPr>
              <a:t>Hadoop 2.0 is more flexible</a:t>
            </a:r>
          </a:p>
          <a:p>
            <a:pPr lvl="1"/>
            <a:r>
              <a:rPr lang="en-US" sz="2000" dirty="0">
                <a:latin typeface="Arial Unicode MS" charset="0"/>
                <a:ea typeface="MS PGothic" charset="0"/>
              </a:rPr>
              <a:t>YARN, for resource description and management</a:t>
            </a:r>
          </a:p>
          <a:p>
            <a:pPr lvl="1"/>
            <a:r>
              <a:rPr lang="en-US" sz="2000" dirty="0">
                <a:latin typeface="Arial Unicode MS" charset="0"/>
                <a:ea typeface="MS PGothic" charset="0"/>
              </a:rPr>
              <a:t>Pig, Hive, Spark, Kafka (message broker), Sqoop (from DBMSs to Hadoop)</a:t>
            </a:r>
          </a:p>
          <a:p>
            <a:r>
              <a:rPr lang="en-US" sz="2400" dirty="0">
                <a:latin typeface="Arial Unicode MS" charset="0"/>
                <a:ea typeface="MS PGothic" charset="0"/>
              </a:rPr>
              <a:t>Apache Spark is currently receiving a lot of attention</a:t>
            </a:r>
          </a:p>
          <a:p>
            <a:pPr lvl="1"/>
            <a:r>
              <a:rPr lang="en-US" sz="2000" dirty="0">
                <a:latin typeface="Arial Unicode MS" charset="0"/>
                <a:ea typeface="MS PGothic" charset="0"/>
              </a:rPr>
              <a:t>MapReduce stores in mass memory intermediate results, with high costs when executing multiple steps</a:t>
            </a:r>
          </a:p>
          <a:p>
            <a:pPr lvl="1"/>
            <a:r>
              <a:rPr lang="en-US" sz="2000" dirty="0">
                <a:latin typeface="Arial Unicode MS" charset="0"/>
                <a:ea typeface="MS PGothic" charset="0"/>
              </a:rPr>
              <a:t>Spark manages a direct transfer from one step to the next, similar to pipelines in DBMS query plans</a:t>
            </a:r>
          </a:p>
          <a:p>
            <a:r>
              <a:rPr lang="en-US" sz="2400" dirty="0">
                <a:latin typeface="Arial Unicode MS" charset="0"/>
                <a:ea typeface="MS PGothic" charset="0"/>
              </a:rPr>
              <a:t>Several components. Among them:</a:t>
            </a:r>
          </a:p>
          <a:p>
            <a:pPr lvl="1"/>
            <a:r>
              <a:rPr lang="en-US" sz="2000" dirty="0" err="1">
                <a:latin typeface="Arial Unicode MS" charset="0"/>
                <a:ea typeface="MS PGothic" charset="0"/>
              </a:rPr>
              <a:t>MLlib</a:t>
            </a:r>
            <a:r>
              <a:rPr lang="en-US" sz="2000" dirty="0">
                <a:latin typeface="Arial Unicode MS" charset="0"/>
                <a:ea typeface="MS PGothic" charset="0"/>
              </a:rPr>
              <a:t> (machine learning)</a:t>
            </a:r>
          </a:p>
          <a:p>
            <a:pPr lvl="1"/>
            <a:r>
              <a:rPr lang="en-US" sz="2000" dirty="0" err="1">
                <a:latin typeface="Arial Unicode MS" charset="0"/>
                <a:ea typeface="MS PGothic" charset="0"/>
              </a:rPr>
              <a:t>SparkSQL</a:t>
            </a:r>
            <a:endParaRPr lang="en-US" sz="2000" dirty="0">
              <a:latin typeface="Arial Unicode MS" charset="0"/>
              <a:ea typeface="MS PGothic" charset="0"/>
            </a:endParaRPr>
          </a:p>
        </p:txBody>
      </p:sp>
      <p:sp>
        <p:nvSpPr>
          <p:cNvPr id="31747" name="Slide Number Placeholder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9pPr>
          </a:lstStyle>
          <a:p>
            <a:pPr eaLnBrk="1" hangingPunct="1"/>
            <a:fld id="{972E471C-2C98-9D4A-809D-7AF60E948904}" type="slidenum">
              <a:rPr lang="en-US" sz="1000">
                <a:solidFill>
                  <a:srgbClr val="46586C"/>
                </a:solidFill>
                <a:latin typeface="Arial Unicode MS" charset="0"/>
              </a:rPr>
              <a:pPr eaLnBrk="1" hangingPunct="1"/>
              <a:t>12</a:t>
            </a:fld>
            <a:endParaRPr lang="en-US" sz="1000">
              <a:solidFill>
                <a:srgbClr val="46586C"/>
              </a:solidFill>
              <a:latin typeface="Arial Unicode M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213638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21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41300"/>
            <a:ext cx="9144000" cy="6357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22" name="Slide Number Placeholder 2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9pPr>
          </a:lstStyle>
          <a:p>
            <a:pPr eaLnBrk="1" hangingPunct="1"/>
            <a:fld id="{EC220A03-49DF-AE41-AF7E-D5A38C2CB178}" type="slidenum">
              <a:rPr lang="en-US" sz="1000">
                <a:solidFill>
                  <a:srgbClr val="46586C"/>
                </a:solidFill>
                <a:latin typeface="Arial Unicode MS" charset="0"/>
              </a:rPr>
              <a:pPr eaLnBrk="1" hangingPunct="1"/>
              <a:t>13</a:t>
            </a:fld>
            <a:endParaRPr lang="en-US" sz="1000">
              <a:solidFill>
                <a:srgbClr val="46586C"/>
              </a:solidFill>
              <a:latin typeface="Arial Unicode MS" charset="0"/>
            </a:endParaRPr>
          </a:p>
        </p:txBody>
      </p:sp>
      <p:sp>
        <p:nvSpPr>
          <p:cNvPr id="30723" name="Rectangle 5"/>
          <p:cNvSpPr>
            <a:spLocks noChangeArrowheads="1"/>
          </p:cNvSpPr>
          <p:nvPr/>
        </p:nvSpPr>
        <p:spPr bwMode="auto">
          <a:xfrm>
            <a:off x="119063" y="0"/>
            <a:ext cx="5146675" cy="642938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2857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14362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 sz="4000" dirty="0">
                <a:latin typeface="+mn-lt"/>
              </a:rPr>
              <a:t>Further Models</a:t>
            </a:r>
          </a:p>
        </p:txBody>
      </p:sp>
    </p:spTree>
    <p:extLst>
      <p:ext uri="{BB962C8B-B14F-4D97-AF65-F5344CB8AC3E}">
        <p14:creationId xmlns:p14="http://schemas.microsoft.com/office/powerpoint/2010/main" val="15530934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sz="3600" dirty="0">
                <a:latin typeface="+mn-lt"/>
              </a:rPr>
              <a:t>Column -Family 1/2</a:t>
            </a:r>
          </a:p>
        </p:txBody>
      </p:sp>
      <p:sp>
        <p:nvSpPr>
          <p:cNvPr id="31746" name="Content Placeholder 2"/>
          <p:cNvSpPr>
            <a:spLocks noGrp="1"/>
          </p:cNvSpPr>
          <p:nvPr>
            <p:ph idx="1"/>
          </p:nvPr>
        </p:nvSpPr>
        <p:spPr>
          <a:xfrm>
            <a:off x="307975" y="1296988"/>
            <a:ext cx="8580438" cy="5021262"/>
          </a:xfrm>
        </p:spPr>
        <p:txBody>
          <a:bodyPr>
            <a:normAutofit lnSpcReduction="10000"/>
          </a:bodyPr>
          <a:lstStyle/>
          <a:p>
            <a:r>
              <a:rPr lang="en-US" sz="2400" dirty="0">
                <a:latin typeface="Arial Unicode MS" charset="0"/>
                <a:ea typeface="MS PGothic" charset="0"/>
              </a:rPr>
              <a:t>Key is a triple row / column / timestamp</a:t>
            </a:r>
          </a:p>
          <a:p>
            <a:r>
              <a:rPr lang="en-US" sz="2400" dirty="0">
                <a:latin typeface="Arial Unicode MS" charset="0"/>
                <a:ea typeface="MS PGothic" charset="0"/>
              </a:rPr>
              <a:t>Value: "opaque”</a:t>
            </a:r>
          </a:p>
          <a:p>
            <a:r>
              <a:rPr lang="en-US" sz="2400" dirty="0">
                <a:latin typeface="Arial Unicode MS" charset="0"/>
                <a:ea typeface="MS PGothic" charset="0"/>
              </a:rPr>
              <a:t>Strongly oriented to Big Data, maximum scalability, the data is partitioned horizontally (</a:t>
            </a:r>
            <a:r>
              <a:rPr lang="en-US" sz="2400" dirty="0" err="1">
                <a:latin typeface="Arial Unicode MS" charset="0"/>
                <a:ea typeface="MS PGothic" charset="0"/>
              </a:rPr>
              <a:t>sharding</a:t>
            </a:r>
            <a:r>
              <a:rPr lang="en-US" sz="2400" dirty="0">
                <a:latin typeface="Arial Unicode MS" charset="0"/>
                <a:ea typeface="MS PGothic" charset="0"/>
              </a:rPr>
              <a:t>) and vertically (different columns on different machines) based on the keys of the row and column</a:t>
            </a:r>
          </a:p>
          <a:p>
            <a:r>
              <a:rPr lang="en-US" sz="2400" dirty="0">
                <a:latin typeface="Arial Unicode MS" charset="0"/>
                <a:ea typeface="MS PGothic" charset="0"/>
              </a:rPr>
              <a:t>Ability to query: get or filter only on row and column keys (indexed). Supports projection</a:t>
            </a:r>
          </a:p>
          <a:p>
            <a:r>
              <a:rPr lang="en-US" sz="2400" dirty="0">
                <a:latin typeface="Arial Unicode MS" charset="0"/>
                <a:ea typeface="MS PGothic" charset="0"/>
              </a:rPr>
              <a:t>Sorting is automatic, based on the names of rows and columns, so schema design is very important</a:t>
            </a:r>
          </a:p>
          <a:p>
            <a:r>
              <a:rPr lang="en-US" sz="2400" dirty="0">
                <a:latin typeface="Arial Unicode MS" charset="0"/>
                <a:ea typeface="MS PGothic" charset="0"/>
              </a:rPr>
              <a:t>Standard APIs: get / put / scan / delete</a:t>
            </a:r>
            <a:br>
              <a:rPr lang="en-US" sz="2400" dirty="0">
                <a:latin typeface="Arial Unicode MS" charset="0"/>
                <a:ea typeface="MS PGothic" charset="0"/>
              </a:rPr>
            </a:br>
            <a:br>
              <a:rPr lang="en-US" sz="2400" dirty="0">
                <a:latin typeface="Arial Unicode MS" charset="0"/>
                <a:ea typeface="MS PGothic" charset="0"/>
              </a:rPr>
            </a:br>
            <a:endParaRPr lang="en-US" sz="2400" dirty="0">
              <a:latin typeface="Arial Unicode MS" charset="0"/>
              <a:ea typeface="MS PGothic" charset="0"/>
            </a:endParaRPr>
          </a:p>
        </p:txBody>
      </p:sp>
      <p:sp>
        <p:nvSpPr>
          <p:cNvPr id="31747" name="Slide Number Placeholder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9pPr>
          </a:lstStyle>
          <a:p>
            <a:pPr eaLnBrk="1" hangingPunct="1"/>
            <a:fld id="{972E471C-2C98-9D4A-809D-7AF60E948904}" type="slidenum">
              <a:rPr lang="en-US" sz="1000">
                <a:solidFill>
                  <a:srgbClr val="46586C"/>
                </a:solidFill>
                <a:latin typeface="Arial Unicode MS" charset="0"/>
              </a:rPr>
              <a:pPr eaLnBrk="1" hangingPunct="1"/>
              <a:t>14</a:t>
            </a:fld>
            <a:endParaRPr lang="en-US" sz="1000">
              <a:solidFill>
                <a:srgbClr val="46586C"/>
              </a:solidFill>
              <a:latin typeface="Arial Unicode M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569682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sz="3600" dirty="0">
                <a:latin typeface="+mn-lt"/>
              </a:rPr>
              <a:t>Column–Family 2/2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1313" y="1162050"/>
            <a:ext cx="8580437" cy="5019675"/>
          </a:xfrm>
        </p:spPr>
        <p:txBody>
          <a:bodyPr>
            <a:normAutofit fontScale="92500" lnSpcReduction="10000"/>
          </a:bodyPr>
          <a:lstStyle/>
          <a:p>
            <a:pPr marL="0" indent="0">
              <a:buFont typeface="Wingdings" charset="0"/>
              <a:buNone/>
              <a:defRPr/>
            </a:pPr>
            <a:r>
              <a:rPr lang="en-US" sz="2800" dirty="0"/>
              <a:t>Semi-structured diagram:</a:t>
            </a:r>
          </a:p>
          <a:p>
            <a:pPr>
              <a:defRPr/>
            </a:pPr>
            <a:r>
              <a:rPr lang="en-US" sz="2800" dirty="0"/>
              <a:t>Row: columns ​​indexed within each row by a row-key</a:t>
            </a:r>
          </a:p>
          <a:p>
            <a:pPr>
              <a:defRPr/>
            </a:pPr>
            <a:r>
              <a:rPr lang="en-US" sz="2800" dirty="0"/>
              <a:t>Column-family: a set of columns, normally similar in structure to optimize compaction. </a:t>
            </a:r>
          </a:p>
          <a:p>
            <a:pPr>
              <a:defRPr/>
            </a:pPr>
            <a:r>
              <a:rPr lang="en-US" sz="2800" dirty="0"/>
              <a:t>Columns in the same column family will be “close”: to be determined at  design time. Equivalent to tables in the RDBMS, but are somehow “semi-structured” (empty column-families occupy 0 bytes)</a:t>
            </a:r>
          </a:p>
          <a:p>
            <a:pPr>
              <a:defRPr/>
            </a:pPr>
            <a:r>
              <a:rPr lang="en-US" sz="2800" dirty="0"/>
              <a:t>Columns: have a name, indexed (column-key) and may contain a value (multi-version) for each row. Can be dynamically added (empty column occupies 0 bytes)</a:t>
            </a:r>
            <a:br>
              <a:rPr lang="en-US" sz="2800" dirty="0"/>
            </a:br>
            <a:endParaRPr lang="en-US" sz="2800" dirty="0"/>
          </a:p>
        </p:txBody>
      </p:sp>
      <p:sp>
        <p:nvSpPr>
          <p:cNvPr id="32771" name="Slide Number Placeholder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9pPr>
          </a:lstStyle>
          <a:p>
            <a:pPr eaLnBrk="1" hangingPunct="1"/>
            <a:fld id="{ABE62883-96E5-1841-9037-4E5574782A0F}" type="slidenum">
              <a:rPr lang="en-US" sz="1000">
                <a:solidFill>
                  <a:srgbClr val="46586C"/>
                </a:solidFill>
                <a:latin typeface="Arial Unicode MS" charset="0"/>
              </a:rPr>
              <a:pPr eaLnBrk="1" hangingPunct="1"/>
              <a:t>15</a:t>
            </a:fld>
            <a:endParaRPr lang="en-US" sz="1000">
              <a:solidFill>
                <a:srgbClr val="46586C"/>
              </a:solidFill>
              <a:latin typeface="Arial Unicode M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6924250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3600" y="134938"/>
            <a:ext cx="6926263" cy="733425"/>
          </a:xfrm>
        </p:spPr>
        <p:txBody>
          <a:bodyPr/>
          <a:lstStyle/>
          <a:p>
            <a:pPr>
              <a:defRPr/>
            </a:pPr>
            <a:r>
              <a:rPr lang="en-US" sz="3600" dirty="0">
                <a:latin typeface="+mn-lt"/>
              </a:rPr>
              <a:t>Column-family: maximum scaling</a:t>
            </a:r>
          </a:p>
        </p:txBody>
      </p:sp>
      <p:sp>
        <p:nvSpPr>
          <p:cNvPr id="33794" name="Footer Placeholder 3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9pPr>
          </a:lstStyle>
          <a:p>
            <a:pPr eaLnBrk="1" hangingPunct="1"/>
            <a:r>
              <a:rPr lang="en-US" sz="1000">
                <a:solidFill>
                  <a:srgbClr val="46586C"/>
                </a:solidFill>
                <a:latin typeface="Arial Unicode MS" charset="0"/>
              </a:rPr>
              <a:t>© 2007 - CEFRIEL</a:t>
            </a:r>
          </a:p>
        </p:txBody>
      </p:sp>
      <p:sp>
        <p:nvSpPr>
          <p:cNvPr id="33795" name="Slide Number Placeholder 2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9pPr>
          </a:lstStyle>
          <a:p>
            <a:pPr eaLnBrk="1" hangingPunct="1"/>
            <a:fld id="{37726AAD-EF6B-9342-A937-9D63E59365AA}" type="slidenum">
              <a:rPr lang="en-US" sz="1000">
                <a:solidFill>
                  <a:srgbClr val="46586C"/>
                </a:solidFill>
                <a:latin typeface="Arial Unicode MS" charset="0"/>
              </a:rPr>
              <a:pPr eaLnBrk="1" hangingPunct="1"/>
              <a:t>16</a:t>
            </a:fld>
            <a:endParaRPr lang="en-US" sz="1000">
              <a:solidFill>
                <a:srgbClr val="46586C"/>
              </a:solidFill>
              <a:latin typeface="Arial Unicode MS" charset="0"/>
            </a:endParaRPr>
          </a:p>
        </p:txBody>
      </p:sp>
      <p:pic>
        <p:nvPicPr>
          <p:cNvPr id="33796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060450"/>
            <a:ext cx="9144000" cy="5797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3797" name="TextBox 2"/>
          <p:cNvSpPr txBox="1">
            <a:spLocks noChangeArrowheads="1"/>
          </p:cNvSpPr>
          <p:nvPr/>
        </p:nvSpPr>
        <p:spPr bwMode="auto">
          <a:xfrm>
            <a:off x="6757988" y="6596063"/>
            <a:ext cx="992187" cy="261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9pPr>
          </a:lstStyle>
          <a:p>
            <a:pPr eaLnBrk="1" hangingPunct="1"/>
            <a:r>
              <a:rPr lang="en-US" sz="1100" b="1" dirty="0">
                <a:latin typeface="Abadi MT Condensed Light" charset="0"/>
                <a:ea typeface="ＭＳ Ｐゴシック" charset="0"/>
                <a:cs typeface="ＭＳ Ｐゴシック" charset="0"/>
              </a:rPr>
              <a:t>@Oscar Locatelli</a:t>
            </a:r>
          </a:p>
        </p:txBody>
      </p:sp>
    </p:spTree>
    <p:extLst>
      <p:ext uri="{BB962C8B-B14F-4D97-AF65-F5344CB8AC3E}">
        <p14:creationId xmlns:p14="http://schemas.microsoft.com/office/powerpoint/2010/main" val="329264095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sz="3600" dirty="0">
                <a:latin typeface="+mn-lt"/>
              </a:rPr>
              <a:t>Document-based</a:t>
            </a:r>
          </a:p>
        </p:txBody>
      </p:sp>
      <p:sp>
        <p:nvSpPr>
          <p:cNvPr id="34818" name="Content Placeholder 2"/>
          <p:cNvSpPr>
            <a:spLocks noGrp="1"/>
          </p:cNvSpPr>
          <p:nvPr>
            <p:ph idx="1"/>
          </p:nvPr>
        </p:nvSpPr>
        <p:spPr>
          <a:xfrm>
            <a:off x="431800" y="1422400"/>
            <a:ext cx="8229600" cy="4525963"/>
          </a:xfrm>
        </p:spPr>
        <p:txBody>
          <a:bodyPr>
            <a:normAutofit fontScale="92500"/>
          </a:bodyPr>
          <a:lstStyle/>
          <a:p>
            <a:r>
              <a:rPr lang="en-US" sz="2400" dirty="0">
                <a:latin typeface="Arial Unicode MS" charset="0"/>
                <a:ea typeface="MS PGothic" charset="0"/>
              </a:rPr>
              <a:t>Key</a:t>
            </a:r>
          </a:p>
          <a:p>
            <a:r>
              <a:rPr lang="en-US" sz="2400" dirty="0">
                <a:latin typeface="Arial Unicode MS" charset="0"/>
                <a:ea typeface="MS PGothic" charset="0"/>
              </a:rPr>
              <a:t>Value: collection of documents whose structure is not fixed and not even comparable to XML or JSON, sometimes “nested”</a:t>
            </a:r>
          </a:p>
          <a:p>
            <a:r>
              <a:rPr lang="en-US" sz="2400" dirty="0">
                <a:latin typeface="Arial Unicode MS" charset="0"/>
                <a:ea typeface="MS PGothic" charset="0"/>
              </a:rPr>
              <a:t>Several mechanisms of the RDBMS, such as indexes, views, triggers, transactions (but very different in semantics)</a:t>
            </a:r>
          </a:p>
          <a:p>
            <a:r>
              <a:rPr lang="en-US" sz="2400" dirty="0">
                <a:latin typeface="Arial Unicode MS" charset="0"/>
                <a:ea typeface="MS PGothic" charset="0"/>
              </a:rPr>
              <a:t>Ability to query:  rich filters (and also indexes) on the internal fields of the document</a:t>
            </a:r>
          </a:p>
          <a:p>
            <a:r>
              <a:rPr lang="en-US" sz="2400" dirty="0">
                <a:latin typeface="Arial Unicode MS" charset="0"/>
                <a:ea typeface="MS PGothic" charset="0"/>
              </a:rPr>
              <a:t>Schema-free and less ’sensitive' to design than a column- based</a:t>
            </a:r>
          </a:p>
          <a:p>
            <a:r>
              <a:rPr lang="en-US" sz="2400" dirty="0">
                <a:latin typeface="Arial Unicode MS" charset="0"/>
                <a:ea typeface="MS PGothic" charset="0"/>
              </a:rPr>
              <a:t>API: high–level, conceptual  (like ORM)</a:t>
            </a:r>
            <a:br>
              <a:rPr lang="en-US" sz="2400" dirty="0">
                <a:latin typeface="Arial Unicode MS" charset="0"/>
                <a:ea typeface="MS PGothic" charset="0"/>
              </a:rPr>
            </a:br>
            <a:endParaRPr lang="en-US" sz="2400" dirty="0">
              <a:latin typeface="Arial Unicode MS" charset="0"/>
              <a:ea typeface="MS PGothic" charset="0"/>
            </a:endParaRPr>
          </a:p>
        </p:txBody>
      </p:sp>
      <p:sp>
        <p:nvSpPr>
          <p:cNvPr id="34819" name="Slide Number Placeholder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9pPr>
          </a:lstStyle>
          <a:p>
            <a:pPr eaLnBrk="1" hangingPunct="1"/>
            <a:fld id="{B8A919DA-1161-9643-929D-E2B84C0FF039}" type="slidenum">
              <a:rPr lang="en-US" sz="1000">
                <a:solidFill>
                  <a:srgbClr val="46586C"/>
                </a:solidFill>
                <a:latin typeface="Arial Unicode MS" charset="0"/>
              </a:rPr>
              <a:pPr eaLnBrk="1" hangingPunct="1"/>
              <a:t>17</a:t>
            </a:fld>
            <a:endParaRPr lang="en-US" sz="1000">
              <a:solidFill>
                <a:srgbClr val="46586C"/>
              </a:solidFill>
              <a:latin typeface="Arial Unicode M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4018369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itolo 1"/>
          <p:cNvSpPr>
            <a:spLocks noGrp="1"/>
          </p:cNvSpPr>
          <p:nvPr>
            <p:ph type="title"/>
          </p:nvPr>
        </p:nvSpPr>
        <p:spPr>
          <a:xfrm>
            <a:off x="693738" y="236538"/>
            <a:ext cx="7772400" cy="666750"/>
          </a:xfrm>
        </p:spPr>
        <p:txBody>
          <a:bodyPr/>
          <a:lstStyle/>
          <a:p>
            <a:pPr>
              <a:defRPr/>
            </a:pPr>
            <a:r>
              <a:rPr lang="it-IT" sz="3600" dirty="0">
                <a:latin typeface="+mn-lt"/>
              </a:rPr>
              <a:t>The CAP </a:t>
            </a:r>
            <a:r>
              <a:rPr lang="it-IT" sz="3600" dirty="0" err="1">
                <a:latin typeface="+mn-lt"/>
              </a:rPr>
              <a:t>theorem</a:t>
            </a:r>
            <a:endParaRPr lang="en-GB" sz="3600" dirty="0">
              <a:latin typeface="+mn-lt"/>
            </a:endParaRPr>
          </a:p>
        </p:txBody>
      </p:sp>
      <p:sp>
        <p:nvSpPr>
          <p:cNvPr id="209922" name="Segnaposto contenuto 2"/>
          <p:cNvSpPr>
            <a:spLocks noGrp="1"/>
          </p:cNvSpPr>
          <p:nvPr>
            <p:ph idx="1"/>
          </p:nvPr>
        </p:nvSpPr>
        <p:spPr>
          <a:xfrm>
            <a:off x="323850" y="1049338"/>
            <a:ext cx="8496300" cy="5046662"/>
          </a:xfrm>
        </p:spPr>
        <p:txBody>
          <a:bodyPr>
            <a:noAutofit/>
          </a:bodyPr>
          <a:lstStyle/>
          <a:p>
            <a:pPr marL="0" indent="0">
              <a:spcBef>
                <a:spcPts val="0"/>
              </a:spcBef>
              <a:buFont typeface="Wingdings" charset="0"/>
              <a:buNone/>
              <a:defRPr/>
            </a:pPr>
            <a:r>
              <a:rPr lang="en-US" sz="2000" dirty="0"/>
              <a:t>A data management system  shared over the network (cloud, networked shared-data system) can guarantee at most two of the following properties: </a:t>
            </a:r>
            <a:br>
              <a:rPr lang="en-US" sz="2000" dirty="0"/>
            </a:br>
            <a:endParaRPr lang="en-US" sz="2000" dirty="0"/>
          </a:p>
          <a:p>
            <a:pPr>
              <a:spcBef>
                <a:spcPts val="0"/>
              </a:spcBef>
              <a:defRPr/>
            </a:pPr>
            <a:r>
              <a:rPr lang="en-US" sz="2000" dirty="0">
                <a:solidFill>
                  <a:srgbClr val="FF0000"/>
                </a:solidFill>
              </a:rPr>
              <a:t>Consistency</a:t>
            </a:r>
            <a:r>
              <a:rPr lang="en-US" sz="2000" dirty="0"/>
              <a:t> (C): all nodes see the same data at the same time</a:t>
            </a:r>
          </a:p>
          <a:p>
            <a:pPr>
              <a:defRPr/>
            </a:pPr>
            <a:r>
              <a:rPr lang="en-US" sz="2000" dirty="0">
                <a:solidFill>
                  <a:srgbClr val="FF0000"/>
                </a:solidFill>
              </a:rPr>
              <a:t>Availability</a:t>
            </a:r>
            <a:r>
              <a:rPr lang="en-US" sz="2000" dirty="0"/>
              <a:t> (A): a guarantee that every request receives a response about whether it was successful or failed</a:t>
            </a:r>
          </a:p>
          <a:p>
            <a:pPr>
              <a:defRPr/>
            </a:pPr>
            <a:r>
              <a:rPr lang="en-US" sz="2000" dirty="0"/>
              <a:t>(tolerance to) </a:t>
            </a:r>
            <a:r>
              <a:rPr lang="en-US" sz="2000" dirty="0">
                <a:solidFill>
                  <a:srgbClr val="FF0000"/>
                </a:solidFill>
              </a:rPr>
              <a:t>Partitions</a:t>
            </a:r>
            <a:r>
              <a:rPr lang="en-US" sz="2000" dirty="0"/>
              <a:t> (P): the system continues to operate despite arbitrary message loss or failure of part of the system</a:t>
            </a:r>
          </a:p>
          <a:p>
            <a:pPr marL="0" indent="0">
              <a:buFont typeface="Wingdings" charset="0"/>
              <a:buNone/>
              <a:defRPr/>
            </a:pPr>
            <a:r>
              <a:rPr lang="en-US" sz="2000" dirty="0"/>
              <a:t>According to Brewer's 2012 article,  "2 of 3”  is misleading:</a:t>
            </a:r>
          </a:p>
          <a:p>
            <a:pPr lvl="1">
              <a:defRPr/>
            </a:pPr>
            <a:r>
              <a:rPr lang="en-US" sz="1800" dirty="0"/>
              <a:t>because partitions are rare, there is little reason to forfeit C or A when the system is not partitioned. </a:t>
            </a:r>
          </a:p>
          <a:p>
            <a:pPr lvl="1">
              <a:defRPr/>
            </a:pPr>
            <a:r>
              <a:rPr lang="en-US" sz="1800" dirty="0"/>
              <a:t>the choice between C and A can occur many times within the same system at very fine granularity; not only can subsystems make different choices, but the choice can change according to the operation or even the specific data or user involved. </a:t>
            </a:r>
          </a:p>
          <a:p>
            <a:pPr lvl="1">
              <a:defRPr/>
            </a:pPr>
            <a:r>
              <a:rPr lang="en-US" sz="1800" dirty="0"/>
              <a:t>all three properties are more “fuzzy” than binary</a:t>
            </a:r>
          </a:p>
          <a:p>
            <a:pPr marL="0" indent="0">
              <a:buFont typeface="Wingdings" charset="0"/>
              <a:buNone/>
              <a:defRPr/>
            </a:pPr>
            <a:endParaRPr lang="en-US" sz="2000" dirty="0"/>
          </a:p>
          <a:p>
            <a:pPr marL="0" indent="0">
              <a:buFont typeface="Wingdings" charset="0"/>
              <a:buNone/>
              <a:defRPr/>
            </a:pPr>
            <a:r>
              <a:rPr lang="en-US" sz="2000" dirty="0"/>
              <a:t> </a:t>
            </a:r>
            <a:br>
              <a:rPr lang="en-US" sz="2000" dirty="0"/>
            </a:br>
            <a:endParaRPr lang="it-IT" sz="2800" dirty="0">
              <a:solidFill>
                <a:schemeClr val="tx2"/>
              </a:solidFill>
              <a:latin typeface="Bookman Old Style" charset="0"/>
              <a:ea typeface="MS PGothic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5762790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itolo 1"/>
          <p:cNvSpPr>
            <a:spLocks noGrp="1"/>
          </p:cNvSpPr>
          <p:nvPr>
            <p:ph type="title"/>
          </p:nvPr>
        </p:nvSpPr>
        <p:spPr>
          <a:xfrm>
            <a:off x="693738" y="388938"/>
            <a:ext cx="7772400" cy="666750"/>
          </a:xfrm>
        </p:spPr>
        <p:txBody>
          <a:bodyPr/>
          <a:lstStyle/>
          <a:p>
            <a:pPr>
              <a:defRPr/>
            </a:pPr>
            <a:r>
              <a:rPr lang="it-IT" sz="3600" dirty="0">
                <a:latin typeface="+mn-lt"/>
              </a:rPr>
              <a:t>The CAP </a:t>
            </a:r>
            <a:r>
              <a:rPr lang="it-IT" sz="3600" dirty="0" err="1">
                <a:latin typeface="+mn-lt"/>
              </a:rPr>
              <a:t>theorem</a:t>
            </a:r>
            <a:endParaRPr lang="en-GB" sz="3600" dirty="0">
              <a:latin typeface="+mn-lt"/>
            </a:endParaRPr>
          </a:p>
        </p:txBody>
      </p:sp>
      <p:sp>
        <p:nvSpPr>
          <p:cNvPr id="209922" name="Segnaposto contenuto 2"/>
          <p:cNvSpPr>
            <a:spLocks noGrp="1"/>
          </p:cNvSpPr>
          <p:nvPr>
            <p:ph idx="1"/>
          </p:nvPr>
        </p:nvSpPr>
        <p:spPr>
          <a:xfrm>
            <a:off x="323850" y="1419225"/>
            <a:ext cx="8496300" cy="4676775"/>
          </a:xfrm>
        </p:spPr>
        <p:txBody>
          <a:bodyPr/>
          <a:lstStyle/>
          <a:p>
            <a:pPr>
              <a:defRPr/>
            </a:pPr>
            <a:r>
              <a:rPr lang="en-US" sz="2400" dirty="0"/>
              <a:t>In ACID, the C means that a transaction preserves all the database constraints</a:t>
            </a:r>
          </a:p>
          <a:p>
            <a:pPr>
              <a:defRPr/>
            </a:pPr>
            <a:r>
              <a:rPr lang="en-US" sz="2400" dirty="0"/>
              <a:t>the C in CAP refers only to copy consistency, a strict subset of ACID consistency. </a:t>
            </a:r>
          </a:p>
          <a:p>
            <a:pPr marL="0" indent="0">
              <a:buFont typeface="Arial" charset="0"/>
              <a:buNone/>
              <a:defRPr/>
            </a:pPr>
            <a:r>
              <a:rPr lang="en-US" sz="2400" dirty="0"/>
              <a:t>From this we can understand why in more traditional applications, such as banking or accounting, or bookings etc. </a:t>
            </a:r>
            <a:r>
              <a:rPr lang="en-US" sz="2400" u="sng" dirty="0"/>
              <a:t>these systems can be catastrophic </a:t>
            </a:r>
            <a:br>
              <a:rPr lang="en-US" sz="2400" dirty="0"/>
            </a:br>
            <a:endParaRPr lang="en-US" sz="2400" dirty="0"/>
          </a:p>
          <a:p>
            <a:pPr marL="0" indent="0">
              <a:buFont typeface="Arial" charset="0"/>
              <a:buNone/>
              <a:defRPr/>
            </a:pPr>
            <a:r>
              <a:rPr lang="en-US" sz="2400" dirty="0"/>
              <a:t>Interesting applications: </a:t>
            </a:r>
          </a:p>
          <a:p>
            <a:pPr>
              <a:defRPr/>
            </a:pPr>
            <a:r>
              <a:rPr lang="en-US" sz="2400" dirty="0"/>
              <a:t>data collected from sensors (append-only) </a:t>
            </a:r>
          </a:p>
          <a:p>
            <a:pPr>
              <a:defRPr/>
            </a:pPr>
            <a:r>
              <a:rPr lang="en-US" sz="2400" dirty="0"/>
              <a:t>In general, datasets that are seldom updated</a:t>
            </a:r>
            <a:endParaRPr lang="it-IT" sz="2400" dirty="0"/>
          </a:p>
        </p:txBody>
      </p:sp>
    </p:spTree>
    <p:extLst>
      <p:ext uri="{BB962C8B-B14F-4D97-AF65-F5344CB8AC3E}">
        <p14:creationId xmlns:p14="http://schemas.microsoft.com/office/powerpoint/2010/main" val="406126385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2163" y="165100"/>
            <a:ext cx="7162800" cy="733425"/>
          </a:xfrm>
        </p:spPr>
        <p:txBody>
          <a:bodyPr/>
          <a:lstStyle/>
          <a:p>
            <a:pPr>
              <a:defRPr/>
            </a:pPr>
            <a:r>
              <a:rPr lang="en-US" sz="3200" dirty="0">
                <a:latin typeface="+mn-lt"/>
              </a:rPr>
              <a:t>SOME FAMOUS IMPLEMENTATIONS</a:t>
            </a:r>
          </a:p>
        </p:txBody>
      </p:sp>
      <p:sp>
        <p:nvSpPr>
          <p:cNvPr id="37890" name="Content Placeholder 2"/>
          <p:cNvSpPr>
            <a:spLocks noGrp="1"/>
          </p:cNvSpPr>
          <p:nvPr>
            <p:ph idx="1"/>
          </p:nvPr>
        </p:nvSpPr>
        <p:spPr>
          <a:xfrm>
            <a:off x="298450" y="1114425"/>
            <a:ext cx="8580438" cy="5021263"/>
          </a:xfrm>
        </p:spPr>
        <p:txBody>
          <a:bodyPr>
            <a:normAutofit lnSpcReduction="10000"/>
          </a:bodyPr>
          <a:lstStyle/>
          <a:p>
            <a:r>
              <a:rPr lang="en-US" sz="2400" dirty="0">
                <a:latin typeface="Arial Unicode MS" charset="0"/>
                <a:ea typeface="MS PGothic" charset="0"/>
              </a:rPr>
              <a:t>Amazon DynamoDB</a:t>
            </a:r>
          </a:p>
          <a:p>
            <a:pPr lvl="1"/>
            <a:r>
              <a:rPr lang="en-US" sz="2000" dirty="0">
                <a:latin typeface="Arial Unicode MS" charset="0"/>
                <a:ea typeface="MS PGothic" charset="0"/>
              </a:rPr>
              <a:t>Key–value</a:t>
            </a:r>
          </a:p>
          <a:p>
            <a:pPr lvl="1"/>
            <a:r>
              <a:rPr lang="en-US" sz="2000" dirty="0">
                <a:latin typeface="Arial Unicode MS" charset="0"/>
                <a:ea typeface="MS PGothic" charset="0"/>
              </a:rPr>
              <a:t>CAP : AP - guarantees Availability and Partition tolerance, relaxing Consistency</a:t>
            </a:r>
          </a:p>
          <a:p>
            <a:pPr lvl="1"/>
            <a:r>
              <a:rPr lang="en-US" sz="2000" dirty="0">
                <a:latin typeface="Arial Unicode MS" charset="0"/>
                <a:ea typeface="MS PGothic" charset="0"/>
              </a:rPr>
              <a:t>auto – </a:t>
            </a:r>
            <a:r>
              <a:rPr lang="en-US" sz="2000" dirty="0" err="1">
                <a:latin typeface="Arial Unicode MS" charset="0"/>
                <a:ea typeface="MS PGothic" charset="0"/>
              </a:rPr>
              <a:t>sharding</a:t>
            </a:r>
            <a:r>
              <a:rPr lang="en-US" sz="2000" dirty="0">
                <a:latin typeface="Arial Unicode MS" charset="0"/>
                <a:ea typeface="MS PGothic" charset="0"/>
              </a:rPr>
              <a:t> </a:t>
            </a:r>
          </a:p>
          <a:p>
            <a:pPr lvl="1"/>
            <a:r>
              <a:rPr lang="en-US" sz="2000" dirty="0">
                <a:latin typeface="Arial Unicode MS" charset="0"/>
                <a:ea typeface="MS PGothic" charset="0"/>
              </a:rPr>
              <a:t>P2P networks </a:t>
            </a:r>
          </a:p>
          <a:p>
            <a:pPr lvl="1"/>
            <a:r>
              <a:rPr lang="en-US" sz="2000" dirty="0">
                <a:latin typeface="Arial Unicode MS" charset="0"/>
                <a:ea typeface="MS PGothic" charset="0"/>
              </a:rPr>
              <a:t>It aims to eliminate the job of the database administrator</a:t>
            </a:r>
          </a:p>
          <a:p>
            <a:pPr lvl="1"/>
            <a:r>
              <a:rPr lang="en-US" sz="2000" dirty="0">
                <a:latin typeface="Arial Unicode MS" charset="0"/>
                <a:ea typeface="MS PGothic" charset="0"/>
              </a:rPr>
              <a:t> Project Voldemort, </a:t>
            </a:r>
            <a:r>
              <a:rPr lang="en-US" sz="2000" dirty="0" err="1">
                <a:latin typeface="Arial Unicode MS" charset="0"/>
                <a:ea typeface="MS PGothic" charset="0"/>
              </a:rPr>
              <a:t>SimpleDB</a:t>
            </a:r>
            <a:endParaRPr lang="en-US" sz="2000" dirty="0">
              <a:latin typeface="Arial Unicode MS" charset="0"/>
              <a:ea typeface="MS PGothic" charset="0"/>
            </a:endParaRPr>
          </a:p>
          <a:p>
            <a:r>
              <a:rPr lang="en-US" sz="2400" dirty="0">
                <a:latin typeface="Arial Unicode MS" charset="0"/>
                <a:ea typeface="MS PGothic" charset="0"/>
              </a:rPr>
              <a:t>Google </a:t>
            </a:r>
            <a:r>
              <a:rPr lang="en-US" sz="2400" dirty="0" err="1">
                <a:latin typeface="Arial Unicode MS" charset="0"/>
                <a:ea typeface="MS PGothic" charset="0"/>
              </a:rPr>
              <a:t>BigTable</a:t>
            </a:r>
            <a:endParaRPr lang="en-US" sz="2400" dirty="0">
              <a:latin typeface="Arial Unicode MS" charset="0"/>
              <a:ea typeface="MS PGothic" charset="0"/>
            </a:endParaRPr>
          </a:p>
          <a:p>
            <a:pPr lvl="1"/>
            <a:r>
              <a:rPr lang="en-US" sz="2000" dirty="0">
                <a:latin typeface="Arial Unicode MS" charset="0"/>
                <a:ea typeface="MS PGothic" charset="0"/>
              </a:rPr>
              <a:t>Column-oriented, on the Google </a:t>
            </a:r>
            <a:r>
              <a:rPr lang="en-US" sz="2000" dirty="0" err="1">
                <a:latin typeface="Arial Unicode MS" charset="0"/>
                <a:ea typeface="MS PGothic" charset="0"/>
              </a:rPr>
              <a:t>BigTable</a:t>
            </a:r>
            <a:r>
              <a:rPr lang="en-US" sz="2000" dirty="0">
                <a:latin typeface="Arial Unicode MS" charset="0"/>
                <a:ea typeface="MS PGothic" charset="0"/>
              </a:rPr>
              <a:t> paper serves as the foundation to the NoSQL Column-based data –model</a:t>
            </a:r>
          </a:p>
          <a:p>
            <a:pPr lvl="1"/>
            <a:r>
              <a:rPr lang="en-US" sz="2000" dirty="0">
                <a:latin typeface="Arial Unicode MS" charset="0"/>
                <a:ea typeface="MS PGothic" charset="0"/>
              </a:rPr>
              <a:t>CAP: CP - if there is a network partition Availability is lost, but ‘strict' consistency may be required</a:t>
            </a:r>
          </a:p>
          <a:p>
            <a:pPr lvl="1"/>
            <a:r>
              <a:rPr lang="en-US" sz="2000" dirty="0">
                <a:latin typeface="Arial Unicode MS" charset="0"/>
                <a:ea typeface="MS PGothic" charset="0"/>
              </a:rPr>
              <a:t>auto-</a:t>
            </a:r>
            <a:r>
              <a:rPr lang="en-US" sz="2000" dirty="0" err="1">
                <a:latin typeface="Arial Unicode MS" charset="0"/>
                <a:ea typeface="MS PGothic" charset="0"/>
              </a:rPr>
              <a:t>sharding</a:t>
            </a:r>
            <a:r>
              <a:rPr lang="en-US" sz="2000" dirty="0">
                <a:latin typeface="Arial Unicode MS" charset="0"/>
                <a:ea typeface="MS PGothic" charset="0"/>
              </a:rPr>
              <a:t>, conflict resolution manual, no P2P</a:t>
            </a:r>
            <a:br>
              <a:rPr lang="en-US" sz="2000" dirty="0">
                <a:latin typeface="Arial Unicode MS" charset="0"/>
                <a:ea typeface="MS PGothic" charset="0"/>
              </a:rPr>
            </a:br>
            <a:r>
              <a:rPr lang="en-US" sz="2000" dirty="0">
                <a:latin typeface="Arial Unicode MS" charset="0"/>
                <a:ea typeface="MS PGothic" charset="0"/>
              </a:rPr>
              <a:t> </a:t>
            </a:r>
          </a:p>
          <a:p>
            <a:endParaRPr lang="en-US" sz="2400" dirty="0">
              <a:latin typeface="Arial Unicode MS" charset="0"/>
              <a:ea typeface="MS PGothic" charset="0"/>
            </a:endParaRPr>
          </a:p>
        </p:txBody>
      </p:sp>
      <p:sp>
        <p:nvSpPr>
          <p:cNvPr id="37891" name="Slide Number Placeholder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9pPr>
          </a:lstStyle>
          <a:p>
            <a:pPr eaLnBrk="1" hangingPunct="1"/>
            <a:fld id="{643A24F1-1D0B-A54C-869C-0F02DD172615}" type="slidenum">
              <a:rPr lang="en-US" sz="1000">
                <a:solidFill>
                  <a:srgbClr val="46586C"/>
                </a:solidFill>
                <a:latin typeface="Arial Unicode MS" charset="0"/>
              </a:rPr>
              <a:pPr eaLnBrk="1" hangingPunct="1"/>
              <a:t>20</a:t>
            </a:fld>
            <a:endParaRPr lang="en-US" sz="1000">
              <a:solidFill>
                <a:srgbClr val="46586C"/>
              </a:solidFill>
              <a:latin typeface="Arial Unicode M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519813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0263" y="127000"/>
            <a:ext cx="8313737" cy="733425"/>
          </a:xfrm>
        </p:spPr>
        <p:txBody>
          <a:bodyPr/>
          <a:lstStyle/>
          <a:p>
            <a:pPr>
              <a:defRPr/>
            </a:pPr>
            <a:r>
              <a:rPr lang="en-US" sz="3200" dirty="0">
                <a:latin typeface="+mn-lt"/>
              </a:rPr>
              <a:t>SOME FAMOUS IMPLEMENTATIONS (II)</a:t>
            </a:r>
          </a:p>
        </p:txBody>
      </p:sp>
      <p:sp>
        <p:nvSpPr>
          <p:cNvPr id="38914" name="Content Placeholder 2"/>
          <p:cNvSpPr>
            <a:spLocks noGrp="1"/>
          </p:cNvSpPr>
          <p:nvPr>
            <p:ph idx="1"/>
          </p:nvPr>
        </p:nvSpPr>
        <p:spPr>
          <a:xfrm>
            <a:off x="298450" y="965200"/>
            <a:ext cx="8580438" cy="5335588"/>
          </a:xfrm>
        </p:spPr>
        <p:txBody>
          <a:bodyPr>
            <a:normAutofit lnSpcReduction="10000"/>
          </a:bodyPr>
          <a:lstStyle/>
          <a:p>
            <a:r>
              <a:rPr lang="en-US" sz="2400" dirty="0" err="1">
                <a:latin typeface="Arial Unicode MS" charset="0"/>
                <a:ea typeface="MS PGothic" charset="0"/>
              </a:rPr>
              <a:t>Hypertable</a:t>
            </a:r>
            <a:r>
              <a:rPr lang="en-US" sz="2400" dirty="0">
                <a:latin typeface="Arial Unicode MS" charset="0"/>
                <a:ea typeface="MS PGothic" charset="0"/>
              </a:rPr>
              <a:t> and </a:t>
            </a:r>
            <a:r>
              <a:rPr lang="en-US" sz="2400" dirty="0" err="1">
                <a:latin typeface="Arial Unicode MS" charset="0"/>
                <a:ea typeface="MS PGothic" charset="0"/>
              </a:rPr>
              <a:t>Hbase</a:t>
            </a:r>
            <a:endParaRPr lang="en-US" sz="2400" dirty="0">
              <a:latin typeface="Arial Unicode MS" charset="0"/>
              <a:ea typeface="MS PGothic" charset="0"/>
            </a:endParaRPr>
          </a:p>
          <a:p>
            <a:pPr lvl="1"/>
            <a:r>
              <a:rPr lang="en-US" sz="2000" dirty="0">
                <a:latin typeface="Arial Unicode MS" charset="0"/>
                <a:ea typeface="MS PGothic" charset="0"/>
              </a:rPr>
              <a:t>Implementations of  </a:t>
            </a:r>
            <a:r>
              <a:rPr lang="en-US" sz="2000" dirty="0" err="1">
                <a:latin typeface="Arial Unicode MS" charset="0"/>
                <a:ea typeface="MS PGothic" charset="0"/>
              </a:rPr>
              <a:t>BigTable</a:t>
            </a:r>
            <a:r>
              <a:rPr lang="en-US" sz="2000" dirty="0">
                <a:latin typeface="Arial Unicode MS" charset="0"/>
                <a:ea typeface="MS PGothic" charset="0"/>
              </a:rPr>
              <a:t> (built on Google File System)</a:t>
            </a:r>
          </a:p>
          <a:p>
            <a:pPr lvl="1"/>
            <a:r>
              <a:rPr lang="en-US" sz="2000" dirty="0">
                <a:latin typeface="Arial Unicode MS" charset="0"/>
                <a:ea typeface="MS PGothic" charset="0"/>
              </a:rPr>
              <a:t>Both within Apache Hadoop (framework for distributed applications based on map-reduce)</a:t>
            </a:r>
          </a:p>
          <a:p>
            <a:pPr lvl="1"/>
            <a:r>
              <a:rPr lang="en-US" sz="2000" dirty="0">
                <a:latin typeface="Arial Unicode MS" charset="0"/>
                <a:ea typeface="MS PGothic" charset="0"/>
              </a:rPr>
              <a:t>Interface Thrift, REST and APIs for various languages</a:t>
            </a:r>
          </a:p>
          <a:p>
            <a:pPr lvl="1"/>
            <a:r>
              <a:rPr lang="en-US" sz="2000" dirty="0">
                <a:latin typeface="Arial Unicode MS" charset="0"/>
                <a:ea typeface="MS PGothic" charset="0"/>
              </a:rPr>
              <a:t>HBase extensible (coprocessors), </a:t>
            </a:r>
            <a:r>
              <a:rPr lang="en-US" sz="2000" dirty="0" err="1">
                <a:latin typeface="Arial Unicode MS" charset="0"/>
                <a:ea typeface="MS PGothic" charset="0"/>
              </a:rPr>
              <a:t>Hypertable</a:t>
            </a:r>
            <a:r>
              <a:rPr lang="en-US" sz="2000" dirty="0">
                <a:latin typeface="Arial Unicode MS" charset="0"/>
                <a:ea typeface="MS PGothic" charset="0"/>
              </a:rPr>
              <a:t> most powerful</a:t>
            </a:r>
          </a:p>
          <a:p>
            <a:r>
              <a:rPr lang="en-US" sz="2400" dirty="0">
                <a:latin typeface="Arial Unicode MS" charset="0"/>
                <a:ea typeface="MS PGothic" charset="0"/>
              </a:rPr>
              <a:t>Cassandra</a:t>
            </a:r>
          </a:p>
          <a:p>
            <a:pPr lvl="1"/>
            <a:r>
              <a:rPr lang="en-US" sz="2000" dirty="0">
                <a:latin typeface="Arial Unicode MS" charset="0"/>
                <a:ea typeface="MS PGothic" charset="0"/>
              </a:rPr>
              <a:t>Free from the Apache Foundation, Unix-like and Windows</a:t>
            </a:r>
          </a:p>
          <a:p>
            <a:pPr lvl="1"/>
            <a:r>
              <a:rPr lang="en-US" sz="2000" dirty="0">
                <a:latin typeface="Arial Unicode MS" charset="0"/>
                <a:ea typeface="MS PGothic" charset="0"/>
              </a:rPr>
              <a:t>Super-Column family</a:t>
            </a:r>
          </a:p>
          <a:p>
            <a:pPr lvl="1"/>
            <a:r>
              <a:rPr lang="en-US" sz="2000" dirty="0">
                <a:latin typeface="Arial Unicode MS" charset="0"/>
                <a:ea typeface="MS PGothic" charset="0"/>
              </a:rPr>
              <a:t>CAP : AP consistency with configurable auto - </a:t>
            </a:r>
            <a:r>
              <a:rPr lang="en-US" sz="2000" dirty="0" err="1">
                <a:latin typeface="Arial Unicode MS" charset="0"/>
                <a:ea typeface="MS PGothic" charset="0"/>
              </a:rPr>
              <a:t>sharding</a:t>
            </a:r>
            <a:r>
              <a:rPr lang="en-US" sz="2000" dirty="0">
                <a:latin typeface="Arial Unicode MS" charset="0"/>
                <a:ea typeface="MS PGothic" charset="0"/>
              </a:rPr>
              <a:t>, automatic conflict resolution</a:t>
            </a:r>
          </a:p>
          <a:p>
            <a:pPr lvl="1"/>
            <a:r>
              <a:rPr lang="en-US" sz="2000" dirty="0">
                <a:latin typeface="Arial Unicode MS" charset="0"/>
                <a:ea typeface="MS PGothic" charset="0"/>
              </a:rPr>
              <a:t>Combines the P2P with the data-model of </a:t>
            </a:r>
            <a:r>
              <a:rPr lang="en-US" sz="2000" dirty="0" err="1">
                <a:latin typeface="Arial Unicode MS" charset="0"/>
                <a:ea typeface="MS PGothic" charset="0"/>
              </a:rPr>
              <a:t>BigTable</a:t>
            </a:r>
            <a:endParaRPr lang="en-US" sz="2000" dirty="0">
              <a:latin typeface="Arial Unicode MS" charset="0"/>
              <a:ea typeface="MS PGothic" charset="0"/>
            </a:endParaRPr>
          </a:p>
          <a:p>
            <a:pPr lvl="1"/>
            <a:r>
              <a:rPr lang="en-US" sz="2000" dirty="0">
                <a:latin typeface="Arial Unicode MS" charset="0"/>
                <a:ea typeface="MS PGothic" charset="0"/>
              </a:rPr>
              <a:t>Transactions lock-free</a:t>
            </a:r>
          </a:p>
          <a:p>
            <a:pPr lvl="1"/>
            <a:r>
              <a:rPr lang="en-US" sz="2000" dirty="0">
                <a:latin typeface="Arial Unicode MS" charset="0"/>
                <a:ea typeface="MS PGothic" charset="0"/>
              </a:rPr>
              <a:t> Key names only on rows and columns</a:t>
            </a:r>
          </a:p>
          <a:p>
            <a:pPr lvl="1"/>
            <a:r>
              <a:rPr lang="en-US" sz="2000" dirty="0">
                <a:latin typeface="Arial Unicode MS" charset="0"/>
                <a:ea typeface="MS PGothic" charset="0"/>
              </a:rPr>
              <a:t>Also on Hadoop </a:t>
            </a:r>
          </a:p>
        </p:txBody>
      </p:sp>
      <p:sp>
        <p:nvSpPr>
          <p:cNvPr id="38915" name="Slide Number Placeholder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9pPr>
          </a:lstStyle>
          <a:p>
            <a:pPr eaLnBrk="1" hangingPunct="1"/>
            <a:fld id="{287924BD-150A-6946-9914-A29352D8965C}" type="slidenum">
              <a:rPr lang="en-US" sz="1000">
                <a:solidFill>
                  <a:srgbClr val="46586C"/>
                </a:solidFill>
                <a:latin typeface="Arial Unicode MS" charset="0"/>
              </a:rPr>
              <a:pPr eaLnBrk="1" hangingPunct="1"/>
              <a:t>21</a:t>
            </a:fld>
            <a:endParaRPr lang="en-US" sz="1000">
              <a:solidFill>
                <a:srgbClr val="46586C"/>
              </a:solidFill>
              <a:latin typeface="Arial Unicode M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083286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0263" y="127000"/>
            <a:ext cx="8313737" cy="733425"/>
          </a:xfrm>
        </p:spPr>
        <p:txBody>
          <a:bodyPr/>
          <a:lstStyle/>
          <a:p>
            <a:pPr>
              <a:defRPr/>
            </a:pPr>
            <a:r>
              <a:rPr lang="en-US" sz="3200" dirty="0">
                <a:latin typeface="+mn-lt"/>
              </a:rPr>
              <a:t>SOME FAMOUS IMPLEMENTATIONS (III)</a:t>
            </a:r>
          </a:p>
        </p:txBody>
      </p:sp>
      <p:sp>
        <p:nvSpPr>
          <p:cNvPr id="38914" name="Content Placeholder 2"/>
          <p:cNvSpPr>
            <a:spLocks noGrp="1"/>
          </p:cNvSpPr>
          <p:nvPr>
            <p:ph idx="1"/>
          </p:nvPr>
        </p:nvSpPr>
        <p:spPr>
          <a:xfrm>
            <a:off x="298450" y="965200"/>
            <a:ext cx="8580438" cy="5335588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Arial Unicode MS" charset="0"/>
                <a:ea typeface="MS PGothic" charset="0"/>
              </a:rPr>
              <a:t>Redis</a:t>
            </a:r>
          </a:p>
          <a:p>
            <a:pPr lvl="1"/>
            <a:r>
              <a:rPr lang="en-US" sz="2000" dirty="0">
                <a:latin typeface="Arial Unicode MS" charset="0"/>
                <a:ea typeface="MS PGothic" charset="0"/>
              </a:rPr>
              <a:t>Originally developed by Salvatore Sanfilippo</a:t>
            </a:r>
          </a:p>
          <a:p>
            <a:pPr lvl="1"/>
            <a:r>
              <a:rPr lang="en-US" sz="2000" dirty="0">
                <a:latin typeface="Arial Unicode MS" charset="0"/>
                <a:ea typeface="MS PGothic" charset="0"/>
              </a:rPr>
              <a:t>Key-value model</a:t>
            </a:r>
          </a:p>
          <a:p>
            <a:pPr lvl="1"/>
            <a:r>
              <a:rPr lang="en-US" sz="2000" dirty="0">
                <a:latin typeface="Arial Unicode MS" charset="0"/>
                <a:ea typeface="MS PGothic" charset="0"/>
              </a:rPr>
              <a:t>Supports storage in mass-memory, but it operates in main memory</a:t>
            </a:r>
          </a:p>
          <a:p>
            <a:pPr lvl="1"/>
            <a:r>
              <a:rPr lang="en-US" sz="2000" dirty="0">
                <a:latin typeface="Arial Unicode MS" charset="0"/>
                <a:ea typeface="MS PGothic" charset="0"/>
              </a:rPr>
              <a:t>High performance and scalability, often used as a cache backend for Websites</a:t>
            </a:r>
          </a:p>
          <a:p>
            <a:pPr lvl="1"/>
            <a:r>
              <a:rPr lang="en-US" sz="2000" dirty="0">
                <a:latin typeface="Arial Unicode MS" charset="0"/>
                <a:ea typeface="MS PGothic" charset="0"/>
              </a:rPr>
              <a:t>Some limited support is offered for joins, but it has a big impact on performance, as it runs scripts on the server</a:t>
            </a:r>
          </a:p>
        </p:txBody>
      </p:sp>
      <p:sp>
        <p:nvSpPr>
          <p:cNvPr id="38915" name="Slide Number Placeholder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9pPr>
          </a:lstStyle>
          <a:p>
            <a:pPr eaLnBrk="1" hangingPunct="1"/>
            <a:fld id="{287924BD-150A-6946-9914-A29352D8965C}" type="slidenum">
              <a:rPr lang="en-US" sz="1000">
                <a:solidFill>
                  <a:srgbClr val="46586C"/>
                </a:solidFill>
                <a:latin typeface="Arial Unicode MS" charset="0"/>
              </a:rPr>
              <a:pPr eaLnBrk="1" hangingPunct="1"/>
              <a:t>22</a:t>
            </a:fld>
            <a:endParaRPr lang="en-US" sz="1000">
              <a:solidFill>
                <a:srgbClr val="46586C"/>
              </a:solidFill>
              <a:latin typeface="Arial Unicode M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0486831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0263" y="119063"/>
            <a:ext cx="8313737" cy="733425"/>
          </a:xfrm>
        </p:spPr>
        <p:txBody>
          <a:bodyPr/>
          <a:lstStyle/>
          <a:p>
            <a:pPr>
              <a:defRPr/>
            </a:pPr>
            <a:r>
              <a:rPr lang="en-US" sz="3200" dirty="0">
                <a:latin typeface="+mn-lt"/>
              </a:rPr>
              <a:t>SOME FAMOUS IMPLEMENTATIONS (IV)</a:t>
            </a:r>
          </a:p>
        </p:txBody>
      </p:sp>
      <p:sp>
        <p:nvSpPr>
          <p:cNvPr id="39938" name="Content Placeholder 2"/>
          <p:cNvSpPr>
            <a:spLocks noGrp="1"/>
          </p:cNvSpPr>
          <p:nvPr>
            <p:ph idx="1"/>
          </p:nvPr>
        </p:nvSpPr>
        <p:spPr>
          <a:xfrm>
            <a:off x="323850" y="1016000"/>
            <a:ext cx="8580438" cy="5335588"/>
          </a:xfrm>
        </p:spPr>
        <p:txBody>
          <a:bodyPr>
            <a:normAutofit fontScale="92500" lnSpcReduction="10000"/>
          </a:bodyPr>
          <a:lstStyle/>
          <a:p>
            <a:r>
              <a:rPr lang="en-US" sz="2400" dirty="0">
                <a:latin typeface="Arial Unicode MS" charset="0"/>
                <a:ea typeface="MS PGothic" charset="0"/>
              </a:rPr>
              <a:t>MongoDB</a:t>
            </a:r>
          </a:p>
          <a:p>
            <a:pPr lvl="1"/>
            <a:r>
              <a:rPr lang="en-US" sz="2000" dirty="0">
                <a:latin typeface="Arial Unicode MS" charset="0"/>
                <a:ea typeface="MS PGothic" charset="0"/>
              </a:rPr>
              <a:t>Embeddable only in a C++ process, with LGPL license </a:t>
            </a:r>
          </a:p>
          <a:p>
            <a:pPr lvl="1"/>
            <a:r>
              <a:rPr lang="en-US" sz="2000" dirty="0">
                <a:latin typeface="Arial Unicode MS" charset="0"/>
                <a:ea typeface="MS PGothic" charset="0"/>
              </a:rPr>
              <a:t>Document–based</a:t>
            </a:r>
          </a:p>
          <a:p>
            <a:pPr lvl="1"/>
            <a:r>
              <a:rPr lang="en-US" sz="2000" dirty="0">
                <a:latin typeface="Arial Unicode MS" charset="0"/>
                <a:ea typeface="MS PGothic" charset="0"/>
              </a:rPr>
              <a:t>CAP: CP</a:t>
            </a:r>
          </a:p>
          <a:p>
            <a:pPr lvl="1"/>
            <a:r>
              <a:rPr lang="en-US" sz="2000" dirty="0">
                <a:latin typeface="Arial Unicode MS" charset="0"/>
                <a:ea typeface="MS PGothic" charset="0"/>
              </a:rPr>
              <a:t>auto-</a:t>
            </a:r>
            <a:r>
              <a:rPr lang="en-US" sz="2000" dirty="0" err="1">
                <a:latin typeface="Arial Unicode MS" charset="0"/>
                <a:ea typeface="MS PGothic" charset="0"/>
              </a:rPr>
              <a:t>sharding</a:t>
            </a:r>
            <a:r>
              <a:rPr lang="en-US" sz="2000" dirty="0">
                <a:latin typeface="Arial Unicode MS" charset="0"/>
                <a:ea typeface="MS PGothic" charset="0"/>
              </a:rPr>
              <a:t> with configurable strategy </a:t>
            </a:r>
          </a:p>
          <a:p>
            <a:pPr lvl="1"/>
            <a:r>
              <a:rPr lang="en-US" sz="2000" dirty="0">
                <a:latin typeface="Arial Unicode MS" charset="0"/>
                <a:ea typeface="MS PGothic" charset="0"/>
              </a:rPr>
              <a:t>static and automatic Indices created synchronously with the write</a:t>
            </a:r>
          </a:p>
          <a:p>
            <a:pPr lvl="1"/>
            <a:r>
              <a:rPr lang="en-US" sz="2000" dirty="0">
                <a:latin typeface="Arial Unicode MS" charset="0"/>
                <a:ea typeface="MS PGothic" charset="0"/>
              </a:rPr>
              <a:t>No transactions but atomic operations, and patterns for creating 2-phase commit or other policies</a:t>
            </a:r>
          </a:p>
          <a:p>
            <a:pPr lvl="1"/>
            <a:r>
              <a:rPr lang="en-US" sz="2000" dirty="0">
                <a:latin typeface="Arial Unicode MS" charset="0"/>
                <a:ea typeface="MS PGothic" charset="0"/>
              </a:rPr>
              <a:t>Query Task executed in Map-Reduce or otherwise distributed systems</a:t>
            </a:r>
          </a:p>
          <a:p>
            <a:pPr lvl="1"/>
            <a:r>
              <a:rPr lang="en-US" sz="2000" dirty="0">
                <a:latin typeface="Arial Unicode MS" charset="0"/>
                <a:ea typeface="MS PGothic" charset="0"/>
              </a:rPr>
              <a:t>In-place update of document attributes</a:t>
            </a:r>
          </a:p>
          <a:p>
            <a:pPr lvl="1"/>
            <a:r>
              <a:rPr lang="en-US" sz="2000" dirty="0">
                <a:latin typeface="Arial Unicode MS" charset="0"/>
                <a:ea typeface="MS PGothic" charset="0"/>
              </a:rPr>
              <a:t>Optimized for write-heavy (updates on index update and maintain consistency)</a:t>
            </a:r>
          </a:p>
          <a:p>
            <a:pPr lvl="1"/>
            <a:r>
              <a:rPr lang="en-US" sz="2000" dirty="0">
                <a:latin typeface="Arial Unicode MS" charset="0"/>
                <a:ea typeface="MS PGothic" charset="0"/>
              </a:rPr>
              <a:t>APIs for various languages ​​ORM-like</a:t>
            </a:r>
          </a:p>
          <a:p>
            <a:pPr lvl="1">
              <a:buFont typeface="Wingdings" panose="05000000000000000000" pitchFamily="2" charset="2"/>
              <a:buChar char="à"/>
            </a:pPr>
            <a:r>
              <a:rPr lang="en-US" sz="2000" dirty="0">
                <a:solidFill>
                  <a:srgbClr val="FF0000"/>
                </a:solidFill>
                <a:latin typeface="Arial Unicode MS" charset="0"/>
                <a:ea typeface="MS PGothic" charset="0"/>
              </a:rPr>
              <a:t>It is the most widely used and known of the document-oriented NoSQL systems, offers excellent performance and excellent documentation</a:t>
            </a:r>
          </a:p>
          <a:p>
            <a:pPr lvl="2">
              <a:buFont typeface="Wingdings" panose="05000000000000000000" pitchFamily="2" charset="2"/>
              <a:buChar char="à"/>
            </a:pPr>
            <a:r>
              <a:rPr lang="en-US" sz="1600" dirty="0">
                <a:solidFill>
                  <a:srgbClr val="FF0000"/>
                </a:solidFill>
                <a:latin typeface="Arial Unicode MS" charset="0"/>
                <a:ea typeface="MS PGothic" charset="0"/>
              </a:rPr>
              <a:t>But, it is not a DBMS</a:t>
            </a:r>
            <a:br>
              <a:rPr lang="en-US" sz="1600" dirty="0">
                <a:solidFill>
                  <a:srgbClr val="FF0000"/>
                </a:solidFill>
                <a:latin typeface="Arial Unicode MS" charset="0"/>
                <a:ea typeface="MS PGothic" charset="0"/>
              </a:rPr>
            </a:br>
            <a:endParaRPr lang="en-US" sz="1600" dirty="0">
              <a:solidFill>
                <a:srgbClr val="FF0000"/>
              </a:solidFill>
              <a:latin typeface="Arial Unicode MS" charset="0"/>
              <a:ea typeface="MS PGothic" charset="0"/>
            </a:endParaRPr>
          </a:p>
        </p:txBody>
      </p:sp>
      <p:sp>
        <p:nvSpPr>
          <p:cNvPr id="39939" name="Slide Number Placeholder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9pPr>
          </a:lstStyle>
          <a:p>
            <a:pPr eaLnBrk="1" hangingPunct="1"/>
            <a:fld id="{0EA671BE-407C-5242-9F7E-0DB6138A3358}" type="slidenum">
              <a:rPr lang="en-US" sz="1000">
                <a:solidFill>
                  <a:srgbClr val="46586C"/>
                </a:solidFill>
                <a:latin typeface="Arial Unicode MS" charset="0"/>
              </a:rPr>
              <a:pPr eaLnBrk="1" hangingPunct="1"/>
              <a:t>23</a:t>
            </a:fld>
            <a:endParaRPr lang="en-US" sz="1000">
              <a:solidFill>
                <a:srgbClr val="46586C"/>
              </a:solidFill>
              <a:latin typeface="Arial Unicode M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3077825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0263" y="254000"/>
            <a:ext cx="8313737" cy="733425"/>
          </a:xfrm>
        </p:spPr>
        <p:txBody>
          <a:bodyPr/>
          <a:lstStyle/>
          <a:p>
            <a:pPr>
              <a:defRPr/>
            </a:pPr>
            <a:r>
              <a:rPr lang="en-US" sz="3200" dirty="0">
                <a:latin typeface="+mn-lt"/>
              </a:rPr>
              <a:t>SOME FAMOUS IMPLEMENTATIONS (V)</a:t>
            </a:r>
          </a:p>
        </p:txBody>
      </p:sp>
      <p:sp>
        <p:nvSpPr>
          <p:cNvPr id="40962" name="Content Placeholder 2"/>
          <p:cNvSpPr>
            <a:spLocks noGrp="1"/>
          </p:cNvSpPr>
          <p:nvPr>
            <p:ph idx="1"/>
          </p:nvPr>
        </p:nvSpPr>
        <p:spPr>
          <a:xfrm>
            <a:off x="323850" y="1117600"/>
            <a:ext cx="8580438" cy="5335588"/>
          </a:xfrm>
        </p:spPr>
        <p:txBody>
          <a:bodyPr>
            <a:normAutofit lnSpcReduction="10000"/>
          </a:bodyPr>
          <a:lstStyle/>
          <a:p>
            <a:r>
              <a:rPr lang="en-US" sz="2400" dirty="0">
                <a:latin typeface="Arial Unicode MS" charset="0"/>
                <a:ea typeface="MS PGothic" charset="0"/>
              </a:rPr>
              <a:t>CouchDB</a:t>
            </a:r>
          </a:p>
          <a:p>
            <a:pPr lvl="1"/>
            <a:r>
              <a:rPr lang="en-US" sz="2000" dirty="0">
                <a:latin typeface="Arial Unicode MS" charset="0"/>
                <a:ea typeface="MS PGothic" charset="0"/>
              </a:rPr>
              <a:t>Document model (internal format is JSON)</a:t>
            </a:r>
          </a:p>
          <a:p>
            <a:pPr lvl="1"/>
            <a:r>
              <a:rPr lang="en-US" sz="2000" dirty="0">
                <a:latin typeface="Arial Unicode MS" charset="0"/>
                <a:ea typeface="MS PGothic" charset="0"/>
              </a:rPr>
              <a:t>CAP: AP, Multi-Version Concurrency Control, strict consistency of master, slave  where appropriate</a:t>
            </a:r>
          </a:p>
          <a:p>
            <a:pPr lvl="1"/>
            <a:r>
              <a:rPr lang="en-US" sz="2000" dirty="0">
                <a:latin typeface="Arial Unicode MS" charset="0"/>
                <a:ea typeface="MS PGothic" charset="0"/>
              </a:rPr>
              <a:t>View materialized on the first read and updated with map-reduce algorithm written in </a:t>
            </a:r>
            <a:r>
              <a:rPr lang="en-US" sz="2000" dirty="0" err="1">
                <a:latin typeface="Arial Unicode MS" charset="0"/>
                <a:ea typeface="MS PGothic" charset="0"/>
              </a:rPr>
              <a:t>Javascript</a:t>
            </a:r>
            <a:r>
              <a:rPr lang="en-US" sz="2000" dirty="0">
                <a:latin typeface="Arial Unicode MS" charset="0"/>
                <a:ea typeface="MS PGothic" charset="0"/>
              </a:rPr>
              <a:t>, projection, sort and calculations</a:t>
            </a:r>
          </a:p>
          <a:p>
            <a:pPr lvl="1"/>
            <a:r>
              <a:rPr lang="en-US" sz="2000" dirty="0">
                <a:latin typeface="Arial Unicode MS" charset="0"/>
                <a:ea typeface="MS PGothic" charset="0"/>
              </a:rPr>
              <a:t>Transactions lock free</a:t>
            </a:r>
          </a:p>
          <a:p>
            <a:pPr lvl="1"/>
            <a:r>
              <a:rPr lang="en-US" sz="2000" dirty="0">
                <a:latin typeface="Arial Unicode MS" charset="0"/>
                <a:ea typeface="MS PGothic" charset="0"/>
              </a:rPr>
              <a:t>Write-heavy, Read-heavy </a:t>
            </a:r>
          </a:p>
          <a:p>
            <a:pPr lvl="1"/>
            <a:r>
              <a:rPr lang="en-US" sz="2000" dirty="0">
                <a:latin typeface="Arial Unicode MS" charset="0"/>
                <a:ea typeface="MS PGothic" charset="0"/>
              </a:rPr>
              <a:t>CouchDB is also a </a:t>
            </a:r>
            <a:r>
              <a:rPr lang="en-US" sz="2000" dirty="0" err="1">
                <a:latin typeface="Arial Unicode MS" charset="0"/>
                <a:ea typeface="MS PGothic" charset="0"/>
              </a:rPr>
              <a:t>WebServer</a:t>
            </a:r>
            <a:r>
              <a:rPr lang="en-US" sz="2000" dirty="0">
                <a:latin typeface="Arial Unicode MS" charset="0"/>
                <a:ea typeface="MS PGothic" charset="0"/>
              </a:rPr>
              <a:t>, can do application hosting HTML5 + JavaScript that are treated as documents (then synchronized between multiple databases, easy load-balancing)</a:t>
            </a:r>
          </a:p>
          <a:p>
            <a:pPr lvl="1"/>
            <a:r>
              <a:rPr lang="en-US" sz="2000" dirty="0">
                <a:latin typeface="Arial Unicode MS" charset="0"/>
                <a:ea typeface="MS PGothic" charset="0"/>
              </a:rPr>
              <a:t>Couchbase, CouchDB offers Memcached + </a:t>
            </a:r>
            <a:r>
              <a:rPr lang="en-US" sz="2000" dirty="0" err="1">
                <a:latin typeface="Arial Unicode MS" charset="0"/>
                <a:ea typeface="MS PGothic" charset="0"/>
              </a:rPr>
              <a:t>GeoIndex</a:t>
            </a:r>
            <a:endParaRPr lang="en-US" sz="2000" dirty="0">
              <a:latin typeface="Arial Unicode MS" charset="0"/>
              <a:ea typeface="MS PGothic" charset="0"/>
            </a:endParaRPr>
          </a:p>
          <a:p>
            <a:pPr lvl="1"/>
            <a:r>
              <a:rPr lang="en-US" sz="2000" dirty="0">
                <a:latin typeface="Arial Unicode MS" charset="0"/>
                <a:ea typeface="MS PGothic" charset="0"/>
              </a:rPr>
              <a:t>CouchDB is the basis of the synchronization service Ubuntu One</a:t>
            </a:r>
            <a:br>
              <a:rPr lang="en-US" sz="2000" dirty="0">
                <a:latin typeface="Arial Unicode MS" charset="0"/>
                <a:ea typeface="MS PGothic" charset="0"/>
              </a:rPr>
            </a:br>
            <a:br>
              <a:rPr lang="en-US" sz="2000" dirty="0">
                <a:latin typeface="Arial Unicode MS" charset="0"/>
                <a:ea typeface="MS PGothic" charset="0"/>
              </a:rPr>
            </a:br>
            <a:br>
              <a:rPr lang="en-US" sz="2000" dirty="0">
                <a:latin typeface="Arial Unicode MS" charset="0"/>
                <a:ea typeface="MS PGothic" charset="0"/>
              </a:rPr>
            </a:br>
            <a:endParaRPr lang="en-US" sz="2000" dirty="0">
              <a:solidFill>
                <a:srgbClr val="FF0000"/>
              </a:solidFill>
              <a:latin typeface="Arial Unicode MS" charset="0"/>
              <a:ea typeface="MS PGothic" charset="0"/>
            </a:endParaRPr>
          </a:p>
        </p:txBody>
      </p:sp>
      <p:sp>
        <p:nvSpPr>
          <p:cNvPr id="40963" name="Slide Number Placeholder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9pPr>
          </a:lstStyle>
          <a:p>
            <a:pPr eaLnBrk="1" hangingPunct="1"/>
            <a:fld id="{DFCC4342-C584-8243-988B-2E47E6C75092}" type="slidenum">
              <a:rPr lang="en-US" sz="1000">
                <a:solidFill>
                  <a:srgbClr val="46586C"/>
                </a:solidFill>
                <a:latin typeface="Arial Unicode MS" charset="0"/>
              </a:rPr>
              <a:pPr eaLnBrk="1" hangingPunct="1"/>
              <a:t>24</a:t>
            </a:fld>
            <a:endParaRPr lang="en-US" sz="1000">
              <a:solidFill>
                <a:srgbClr val="46586C"/>
              </a:solidFill>
              <a:latin typeface="Arial Unicode M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4155158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5863" y="558800"/>
            <a:ext cx="7213600" cy="733425"/>
          </a:xfrm>
        </p:spPr>
        <p:txBody>
          <a:bodyPr/>
          <a:lstStyle/>
          <a:p>
            <a:pPr>
              <a:defRPr/>
            </a:pPr>
            <a:r>
              <a:rPr lang="en-US" sz="3200" dirty="0">
                <a:latin typeface="+mn-lt"/>
              </a:rPr>
              <a:t>Different products for different objectives</a:t>
            </a:r>
          </a:p>
        </p:txBody>
      </p:sp>
      <p:sp>
        <p:nvSpPr>
          <p:cNvPr id="41986" name="Content Placeholder 2"/>
          <p:cNvSpPr>
            <a:spLocks noGrp="1"/>
          </p:cNvSpPr>
          <p:nvPr>
            <p:ph idx="1"/>
          </p:nvPr>
        </p:nvSpPr>
        <p:spPr>
          <a:xfrm>
            <a:off x="358775" y="1466850"/>
            <a:ext cx="8580438" cy="5019675"/>
          </a:xfrm>
        </p:spPr>
        <p:txBody>
          <a:bodyPr/>
          <a:lstStyle/>
          <a:p>
            <a:r>
              <a:rPr lang="en-US" sz="2800" dirty="0">
                <a:latin typeface="Arial Unicode MS" charset="0"/>
                <a:ea typeface="MS PGothic" charset="0"/>
              </a:rPr>
              <a:t>Enterprise Big Data: maximum performance and scalability: Amazon DynamoDB, Google </a:t>
            </a:r>
            <a:r>
              <a:rPr lang="en-US" sz="2800" dirty="0" err="1">
                <a:latin typeface="Arial Unicode MS" charset="0"/>
                <a:ea typeface="MS PGothic" charset="0"/>
              </a:rPr>
              <a:t>BigTable</a:t>
            </a:r>
            <a:r>
              <a:rPr lang="en-US" sz="2800" dirty="0">
                <a:latin typeface="Arial Unicode MS" charset="0"/>
                <a:ea typeface="MS PGothic" charset="0"/>
              </a:rPr>
              <a:t> and all their derivatives (Voldemort, Cassandra, HBase, </a:t>
            </a:r>
            <a:r>
              <a:rPr lang="en-US" sz="2800" dirty="0" err="1">
                <a:latin typeface="Arial Unicode MS" charset="0"/>
                <a:ea typeface="MS PGothic" charset="0"/>
              </a:rPr>
              <a:t>Hypertable</a:t>
            </a:r>
            <a:r>
              <a:rPr lang="en-US" sz="2800" dirty="0">
                <a:latin typeface="Arial Unicode MS" charset="0"/>
                <a:ea typeface="MS PGothic" charset="0"/>
              </a:rPr>
              <a:t>)</a:t>
            </a:r>
          </a:p>
          <a:p>
            <a:r>
              <a:rPr lang="en-US" sz="2800" dirty="0">
                <a:latin typeface="Arial Unicode MS" charset="0"/>
                <a:ea typeface="MS PGothic" charset="0"/>
              </a:rPr>
              <a:t>Document Management or RDBMS replacement (</a:t>
            </a:r>
            <a:r>
              <a:rPr lang="en-US" sz="2800" u="sng" dirty="0">
                <a:latin typeface="Arial Unicode MS" charset="0"/>
                <a:ea typeface="MS PGothic" charset="0"/>
              </a:rPr>
              <a:t>with extreme caution!!!</a:t>
            </a:r>
            <a:r>
              <a:rPr lang="en-US" sz="2800" dirty="0">
                <a:latin typeface="Arial Unicode MS" charset="0"/>
                <a:ea typeface="MS PGothic" charset="0"/>
              </a:rPr>
              <a:t>): MongoDB (write heavy) </a:t>
            </a:r>
            <a:r>
              <a:rPr lang="en-US" sz="2800" dirty="0" err="1">
                <a:latin typeface="Arial Unicode MS" charset="0"/>
                <a:ea typeface="MS PGothic" charset="0"/>
              </a:rPr>
              <a:t>RavenDB</a:t>
            </a:r>
            <a:r>
              <a:rPr lang="en-US" sz="2800" dirty="0">
                <a:latin typeface="Arial Unicode MS" charset="0"/>
                <a:ea typeface="MS PGothic" charset="0"/>
              </a:rPr>
              <a:t> (read-heavy), </a:t>
            </a:r>
            <a:r>
              <a:rPr lang="en-US" sz="2800" dirty="0" err="1">
                <a:latin typeface="Arial Unicode MS" charset="0"/>
                <a:ea typeface="MS PGothic" charset="0"/>
              </a:rPr>
              <a:t>BigCouch</a:t>
            </a:r>
            <a:r>
              <a:rPr lang="en-US" sz="2800" dirty="0">
                <a:latin typeface="Arial Unicode MS" charset="0"/>
                <a:ea typeface="MS PGothic" charset="0"/>
              </a:rPr>
              <a:t> (both not discussed here)</a:t>
            </a:r>
          </a:p>
          <a:p>
            <a:r>
              <a:rPr lang="en-US" sz="2800" dirty="0">
                <a:latin typeface="Arial Unicode MS" charset="0"/>
                <a:ea typeface="MS PGothic" charset="0"/>
              </a:rPr>
              <a:t>Scenarios with online-offline, mobile devices/ laptops: CouchDB (Ubuntu One)</a:t>
            </a:r>
          </a:p>
        </p:txBody>
      </p:sp>
      <p:sp>
        <p:nvSpPr>
          <p:cNvPr id="41987" name="Slide Number Placeholder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9pPr>
          </a:lstStyle>
          <a:p>
            <a:pPr eaLnBrk="1" hangingPunct="1"/>
            <a:fld id="{12FBC3DF-5C32-D24E-B17A-FCD1CA2EDA6F}" type="slidenum">
              <a:rPr lang="en-US" sz="1000">
                <a:solidFill>
                  <a:srgbClr val="46586C"/>
                </a:solidFill>
                <a:latin typeface="Arial Unicode MS" charset="0"/>
              </a:rPr>
              <a:pPr eaLnBrk="1" hangingPunct="1"/>
              <a:t>25</a:t>
            </a:fld>
            <a:endParaRPr lang="en-US" sz="1000">
              <a:solidFill>
                <a:srgbClr val="46586C"/>
              </a:solidFill>
              <a:latin typeface="Arial Unicode M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5264068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5863" y="558800"/>
            <a:ext cx="7213600" cy="733425"/>
          </a:xfrm>
        </p:spPr>
        <p:txBody>
          <a:bodyPr/>
          <a:lstStyle/>
          <a:p>
            <a:pPr>
              <a:defRPr/>
            </a:pPr>
            <a:r>
              <a:rPr lang="en-US" sz="3200" dirty="0">
                <a:latin typeface="+mn-lt"/>
              </a:rPr>
              <a:t>Other interesting solutions</a:t>
            </a:r>
          </a:p>
        </p:txBody>
      </p:sp>
      <p:sp>
        <p:nvSpPr>
          <p:cNvPr id="41986" name="Content Placeholder 2"/>
          <p:cNvSpPr>
            <a:spLocks noGrp="1"/>
          </p:cNvSpPr>
          <p:nvPr>
            <p:ph idx="1"/>
          </p:nvPr>
        </p:nvSpPr>
        <p:spPr>
          <a:xfrm>
            <a:off x="358775" y="1466850"/>
            <a:ext cx="8580438" cy="5019675"/>
          </a:xfrm>
        </p:spPr>
        <p:txBody>
          <a:bodyPr>
            <a:normAutofit fontScale="85000" lnSpcReduction="10000"/>
          </a:bodyPr>
          <a:lstStyle/>
          <a:p>
            <a:r>
              <a:rPr lang="en-US" sz="2800" dirty="0" err="1">
                <a:latin typeface="Arial Unicode MS" charset="0"/>
                <a:ea typeface="MS PGothic" charset="0"/>
              </a:rPr>
              <a:t>CockroachDB</a:t>
            </a:r>
            <a:endParaRPr lang="en-US" sz="2800" dirty="0">
              <a:latin typeface="Arial Unicode MS" charset="0"/>
              <a:ea typeface="MS PGothic" charset="0"/>
            </a:endParaRPr>
          </a:p>
          <a:p>
            <a:pPr lvl="1"/>
            <a:r>
              <a:rPr lang="en-US" sz="2400" dirty="0">
                <a:latin typeface="Arial Unicode MS" charset="0"/>
                <a:ea typeface="MS PGothic" charset="0"/>
              </a:rPr>
              <a:t>Emphasizes reliability, scalability and distribution</a:t>
            </a:r>
          </a:p>
          <a:p>
            <a:pPr lvl="1"/>
            <a:r>
              <a:rPr lang="en-US" sz="2400" dirty="0">
                <a:latin typeface="Arial Unicode MS" charset="0"/>
                <a:ea typeface="MS PGothic" charset="0"/>
              </a:rPr>
              <a:t>It is serverless</a:t>
            </a:r>
          </a:p>
          <a:p>
            <a:pPr lvl="1"/>
            <a:r>
              <a:rPr lang="en-US" sz="2400" dirty="0">
                <a:latin typeface="Arial Unicode MS" charset="0"/>
                <a:ea typeface="MS PGothic" charset="0"/>
              </a:rPr>
              <a:t>It uses Raft, an evolution of </a:t>
            </a:r>
            <a:r>
              <a:rPr lang="en-US" sz="2400" dirty="0" err="1">
                <a:latin typeface="Arial Unicode MS" charset="0"/>
                <a:ea typeface="MS PGothic" charset="0"/>
              </a:rPr>
              <a:t>Paxos</a:t>
            </a:r>
            <a:r>
              <a:rPr lang="en-US" sz="2400" dirty="0">
                <a:latin typeface="Arial Unicode MS" charset="0"/>
                <a:ea typeface="MS PGothic" charset="0"/>
              </a:rPr>
              <a:t> commit</a:t>
            </a:r>
          </a:p>
          <a:p>
            <a:r>
              <a:rPr lang="en-US" sz="2800" dirty="0">
                <a:latin typeface="Arial Unicode MS" charset="0"/>
                <a:ea typeface="MS PGothic" charset="0"/>
              </a:rPr>
              <a:t>Firebase</a:t>
            </a:r>
          </a:p>
          <a:p>
            <a:pPr lvl="1"/>
            <a:r>
              <a:rPr lang="en-US" sz="2400" dirty="0">
                <a:latin typeface="Arial Unicode MS" charset="0"/>
                <a:ea typeface="MS PGothic" charset="0"/>
              </a:rPr>
              <a:t>Developed by Google, well supported within GCP</a:t>
            </a:r>
          </a:p>
          <a:p>
            <a:pPr lvl="1"/>
            <a:r>
              <a:rPr lang="en-US" sz="2400" dirty="0">
                <a:latin typeface="Arial Unicode MS" charset="0"/>
                <a:ea typeface="MS PGothic" charset="0"/>
              </a:rPr>
              <a:t>It goes beyond classical DBMS tasks (it is presented as an app development platform: auth, log collection, …)</a:t>
            </a:r>
          </a:p>
          <a:p>
            <a:pPr lvl="1"/>
            <a:r>
              <a:rPr lang="en-US" sz="2400" dirty="0" err="1">
                <a:latin typeface="Arial Unicode MS" charset="0"/>
                <a:ea typeface="MS PGothic" charset="0"/>
              </a:rPr>
              <a:t>Firestore</a:t>
            </a:r>
            <a:r>
              <a:rPr lang="en-US" sz="2400" dirty="0">
                <a:latin typeface="Arial Unicode MS" charset="0"/>
                <a:ea typeface="MS PGothic" charset="0"/>
              </a:rPr>
              <a:t> is now the NoSQL DBMS component</a:t>
            </a:r>
          </a:p>
          <a:p>
            <a:r>
              <a:rPr lang="en-US" sz="2800" dirty="0" err="1">
                <a:latin typeface="Arial Unicode MS" charset="0"/>
                <a:ea typeface="MS PGothic" charset="0"/>
              </a:rPr>
              <a:t>Supabase</a:t>
            </a:r>
            <a:endParaRPr lang="en-US" sz="2800" dirty="0">
              <a:latin typeface="Arial Unicode MS" charset="0"/>
              <a:ea typeface="MS PGothic" charset="0"/>
            </a:endParaRPr>
          </a:p>
          <a:p>
            <a:pPr lvl="1"/>
            <a:r>
              <a:rPr lang="en-US" sz="2400" dirty="0">
                <a:latin typeface="Arial Unicode MS" charset="0"/>
                <a:ea typeface="MS PGothic" charset="0"/>
              </a:rPr>
              <a:t>Open source alternative to Firebase</a:t>
            </a:r>
          </a:p>
          <a:p>
            <a:pPr lvl="1"/>
            <a:r>
              <a:rPr lang="en-US" sz="2400" dirty="0">
                <a:latin typeface="Arial Unicode MS" charset="0"/>
                <a:ea typeface="MS PGothic" charset="0"/>
              </a:rPr>
              <a:t>It starts from PostgreSQL</a:t>
            </a:r>
          </a:p>
          <a:p>
            <a:pPr lvl="1"/>
            <a:r>
              <a:rPr lang="en-US" sz="2400" dirty="0">
                <a:latin typeface="Arial Unicode MS" charset="0"/>
                <a:ea typeface="MS PGothic" charset="0"/>
              </a:rPr>
              <a:t>It offers scalability (</a:t>
            </a:r>
            <a:r>
              <a:rPr lang="en-US" sz="2400" dirty="0" err="1">
                <a:latin typeface="Arial Unicode MS" charset="0"/>
                <a:ea typeface="MS PGothic" charset="0"/>
              </a:rPr>
              <a:t>sharding</a:t>
            </a:r>
            <a:r>
              <a:rPr lang="en-US" sz="2400" dirty="0">
                <a:latin typeface="Arial Unicode MS" charset="0"/>
                <a:ea typeface="MS PGothic" charset="0"/>
              </a:rPr>
              <a:t>) and sophisticated access control, adapting triggers to the management of </a:t>
            </a:r>
            <a:r>
              <a:rPr lang="en-US" sz="2400">
                <a:latin typeface="Arial Unicode MS" charset="0"/>
                <a:ea typeface="MS PGothic" charset="0"/>
              </a:rPr>
              <a:t>expressive policy </a:t>
            </a:r>
            <a:r>
              <a:rPr lang="en-US" sz="2400" dirty="0">
                <a:latin typeface="Arial Unicode MS" charset="0"/>
                <a:ea typeface="MS PGothic" charset="0"/>
              </a:rPr>
              <a:t>rules</a:t>
            </a:r>
          </a:p>
          <a:p>
            <a:endParaRPr lang="en-US" sz="2800" dirty="0">
              <a:latin typeface="Arial Unicode MS" charset="0"/>
              <a:ea typeface="MS PGothic" charset="0"/>
            </a:endParaRPr>
          </a:p>
        </p:txBody>
      </p:sp>
      <p:sp>
        <p:nvSpPr>
          <p:cNvPr id="41987" name="Slide Number Placeholder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9pPr>
          </a:lstStyle>
          <a:p>
            <a:pPr eaLnBrk="1" hangingPunct="1"/>
            <a:fld id="{12FBC3DF-5C32-D24E-B17A-FCD1CA2EDA6F}" type="slidenum">
              <a:rPr lang="en-US" sz="1000">
                <a:solidFill>
                  <a:srgbClr val="46586C"/>
                </a:solidFill>
                <a:latin typeface="Arial Unicode MS" charset="0"/>
              </a:rPr>
              <a:pPr eaLnBrk="1" hangingPunct="1"/>
              <a:t>26</a:t>
            </a:fld>
            <a:endParaRPr lang="en-US" sz="1000">
              <a:solidFill>
                <a:srgbClr val="46586C"/>
              </a:solidFill>
              <a:latin typeface="Arial Unicode M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0862100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EECDD42-AC4E-964F-5B49-52A0D7C35F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it-IT" dirty="0" err="1"/>
              <a:t>Classification</a:t>
            </a:r>
            <a:r>
              <a:rPr lang="it-IT" dirty="0"/>
              <a:t> of data </a:t>
            </a:r>
            <a:r>
              <a:rPr lang="it-IT" dirty="0" err="1"/>
              <a:t>architectures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757B4AAB-84EF-9905-1ACF-C2EE7E528B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1600200"/>
            <a:ext cx="6746631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it-IT" sz="2800" dirty="0"/>
              <a:t>From «</a:t>
            </a:r>
            <a:r>
              <a:rPr lang="it-IT" sz="2800" dirty="0" err="1"/>
              <a:t>Deciphering</a:t>
            </a:r>
            <a:r>
              <a:rPr lang="it-IT" sz="2800" dirty="0"/>
              <a:t> data </a:t>
            </a:r>
            <a:r>
              <a:rPr lang="it-IT" sz="2800" dirty="0" err="1"/>
              <a:t>architectures</a:t>
            </a:r>
            <a:r>
              <a:rPr lang="it-IT" sz="2800" dirty="0"/>
              <a:t>», James </a:t>
            </a:r>
            <a:r>
              <a:rPr lang="it-IT" sz="2800" dirty="0" err="1"/>
              <a:t>Serra,O’Reilly</a:t>
            </a:r>
            <a:r>
              <a:rPr lang="it-IT" sz="2800" dirty="0"/>
              <a:t>, 2024</a:t>
            </a:r>
          </a:p>
        </p:txBody>
      </p:sp>
    </p:spTree>
    <p:extLst>
      <p:ext uri="{BB962C8B-B14F-4D97-AF65-F5344CB8AC3E}">
        <p14:creationId xmlns:p14="http://schemas.microsoft.com/office/powerpoint/2010/main" val="140234875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5ABAA3F-2520-810B-4D48-183B0B47DD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Data </a:t>
            </a:r>
            <a:r>
              <a:rPr lang="it-IT" dirty="0" err="1"/>
              <a:t>warehouse</a:t>
            </a:r>
            <a:endParaRPr lang="it-IT" dirty="0"/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ADF48537-ABD1-03C4-F302-F99B1FF73D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4837" y="2157235"/>
            <a:ext cx="7354326" cy="2543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242929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C87CD56-2E6D-FD57-9A58-BB9CCF80C2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Data </a:t>
            </a:r>
            <a:r>
              <a:rPr lang="it-IT" dirty="0" err="1"/>
              <a:t>lake</a:t>
            </a:r>
            <a:endParaRPr lang="it-IT" dirty="0"/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34A8A6C3-0D12-7ABF-57CC-BDAF735DFD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0574" y="1633287"/>
            <a:ext cx="7182852" cy="3591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643205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B4C5E20-3AC8-1017-CEB3-05A1F471E8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Modern</a:t>
            </a:r>
            <a:r>
              <a:rPr lang="it-IT" dirty="0"/>
              <a:t> Data </a:t>
            </a:r>
            <a:r>
              <a:rPr lang="it-IT" dirty="0" err="1"/>
              <a:t>Warehouse</a:t>
            </a:r>
            <a:endParaRPr lang="it-IT" dirty="0"/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AF17D953-A3D2-63F9-9077-B12A292BD4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3442" y="2619262"/>
            <a:ext cx="7097115" cy="1619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821664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8BB27B5-A215-0BB9-A7B6-496FDD73A7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Data </a:t>
            </a:r>
            <a:r>
              <a:rPr lang="it-IT" dirty="0" err="1"/>
              <a:t>Fabric</a:t>
            </a:r>
            <a:endParaRPr lang="it-IT" dirty="0"/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B649C239-92E9-8A7F-21F7-F3302A88E6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9153" y="2033392"/>
            <a:ext cx="7125694" cy="2791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586540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EF6BB81-FDD8-478F-FF05-84EE0FF01D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Data </a:t>
            </a:r>
            <a:r>
              <a:rPr lang="it-IT" dirty="0" err="1"/>
              <a:t>Lakehouse</a:t>
            </a:r>
            <a:endParaRPr lang="it-IT" dirty="0"/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1CF69853-0ED5-A84D-5A1F-E556603E8A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6284" y="2023866"/>
            <a:ext cx="7211431" cy="2810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414422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7B16570-0101-BB59-5399-E7F0A0A587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Data Mesh</a:t>
            </a: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124963AE-5400-B47C-2EAD-59C6D09DFA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0574" y="2295367"/>
            <a:ext cx="7182852" cy="2267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917430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EECDD42-AC4E-964F-5B49-52A0D7C35F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it-IT" dirty="0" err="1"/>
              <a:t>Classification</a:t>
            </a:r>
            <a:r>
              <a:rPr lang="it-IT" dirty="0"/>
              <a:t> of data </a:t>
            </a:r>
            <a:r>
              <a:rPr lang="it-IT" dirty="0" err="1"/>
              <a:t>architectures</a:t>
            </a:r>
            <a:endParaRPr lang="it-IT" dirty="0"/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C9BB5E69-34B8-C290-2F89-38AC3E0C99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5384" y="1417638"/>
            <a:ext cx="6002216" cy="5444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491566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3FD2666-C279-9B20-7963-AB3F112B72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A survey on DMS and DPS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F6251169-B951-3EB8-7CD9-93C790C612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it-IT" dirty="0"/>
              <a:t>A Model and Survey of Distributed Data-Intensive Systems</a:t>
            </a:r>
          </a:p>
          <a:p>
            <a:pPr lvl="1"/>
            <a:r>
              <a:rPr lang="it-IT" dirty="0"/>
              <a:t>Alessandro Margara, Gianpaolo </a:t>
            </a:r>
            <a:r>
              <a:rPr lang="it-IT" dirty="0" err="1"/>
              <a:t>Cugola</a:t>
            </a:r>
            <a:r>
              <a:rPr lang="it-IT" dirty="0"/>
              <a:t>, Nicolò </a:t>
            </a:r>
            <a:r>
              <a:rPr lang="it-IT" dirty="0" err="1"/>
              <a:t>Felicioni</a:t>
            </a:r>
            <a:r>
              <a:rPr lang="it-IT" dirty="0"/>
              <a:t>, Stefano </a:t>
            </a:r>
            <a:r>
              <a:rPr lang="it-IT" dirty="0" err="1"/>
              <a:t>Cilloni</a:t>
            </a:r>
            <a:r>
              <a:rPr lang="it-IT" dirty="0"/>
              <a:t>, Politecnico di Milano</a:t>
            </a:r>
          </a:p>
          <a:p>
            <a:pPr lvl="1"/>
            <a:r>
              <a:rPr lang="it-IT" dirty="0"/>
              <a:t>ACM Computing Surveys, June 2023</a:t>
            </a:r>
          </a:p>
          <a:p>
            <a:pPr marL="457200" lvl="1" indent="0">
              <a:buNone/>
            </a:pPr>
            <a:endParaRPr lang="it-IT" dirty="0"/>
          </a:p>
          <a:p>
            <a:pPr marL="457200" lvl="1" indent="0">
              <a:buNone/>
            </a:pPr>
            <a:endParaRPr lang="it-IT" dirty="0"/>
          </a:p>
          <a:p>
            <a:pPr marL="457200" lvl="1" indent="0">
              <a:buNone/>
            </a:pPr>
            <a:r>
              <a:rPr lang="it-IT" dirty="0"/>
              <a:t>Open access </a:t>
            </a:r>
            <a:r>
              <a:rPr lang="it-IT" dirty="0" err="1"/>
              <a:t>at</a:t>
            </a:r>
            <a:r>
              <a:rPr lang="it-IT" dirty="0"/>
              <a:t> https://arxiv.org/pdf/2203.10836</a:t>
            </a:r>
          </a:p>
        </p:txBody>
      </p:sp>
    </p:spTree>
    <p:extLst>
      <p:ext uri="{BB962C8B-B14F-4D97-AF65-F5344CB8AC3E}">
        <p14:creationId xmlns:p14="http://schemas.microsoft.com/office/powerpoint/2010/main" val="238787182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DBF4B7A-8064-40BE-B1DC-77F45F4A48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it-IT" dirty="0" err="1"/>
              <a:t>Taxonomy</a:t>
            </a:r>
            <a:r>
              <a:rPr lang="it-IT" dirty="0"/>
              <a:t> of data intensive systems</a:t>
            </a: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9C0E6E2F-25CD-1D8D-861C-7622B36D16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811" y="1655961"/>
            <a:ext cx="9020973" cy="48386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11753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4F66A20-694E-92BA-EDE8-B1C52EAE5D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4827486E-9EE2-909B-EB75-3872F7D386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it-IT"/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9253E9A7-52A3-6157-3644-DCE7F487B0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2056" y="0"/>
            <a:ext cx="763988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423243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39C8A60-4018-C8B8-876A-FC5F02E791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E048F956-E9CA-E53C-986C-4BCBD19D5E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it-IT"/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5C173092-C622-70B5-D2B5-23B179CB74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1070" y="0"/>
            <a:ext cx="672186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47483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651193D-1A83-09A9-2294-2274727291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3DECA0B3-4740-9EBC-10F4-91CB195797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it-IT"/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E37FFA4E-4CBA-7918-2D81-B7398F14A6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637" y="274638"/>
            <a:ext cx="8925363" cy="63481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773328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9906501-A850-C4F8-7250-D019577EB0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2DE9E895-4AB1-E394-A13A-629635F144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it-IT"/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BD788E60-0CCA-EBC3-3BC7-0F30259C5B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5284" y="675891"/>
            <a:ext cx="7573432" cy="5506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334456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11656D8-C100-5B52-294D-1BA0D0F338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BC3280C6-0575-EE47-A852-052BBD131F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it-IT"/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A2EDD015-CC48-B1F7-54C1-ABE901C51A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100" y="1299865"/>
            <a:ext cx="7525800" cy="4258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90532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AA947E2-0BA3-C454-1195-A3845F4DBC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7555771C-FC84-31F2-3CDC-51E5A57D52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it-IT"/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91FEE260-9E36-85D5-D563-7AEBD68E54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205" y="1266523"/>
            <a:ext cx="7449590" cy="4324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438019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AD7608C-00E6-AB6A-160F-EA41BAA8B3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9A16E14D-D473-12C8-0DE3-AE4E2F6374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it-IT"/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6FA85546-FA83-816F-765D-AB19E86FDF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4810" y="290074"/>
            <a:ext cx="7554379" cy="6277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244788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FC80BE3-D917-5C17-5D08-7AC5A59A22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0B56C17-16F1-233F-60F7-9E1AAF1524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it-IT"/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82A216EA-83C6-72C4-6CDC-761A8E9309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100" y="1252233"/>
            <a:ext cx="7525800" cy="4353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6483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83FCA77-B36E-40CF-AEB5-EEE567CF1A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38DE5EDF-6A34-312E-C298-DC07BFE4DD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it-IT"/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19AB6547-4CFF-7250-328D-6896377E35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2074" y="1295102"/>
            <a:ext cx="6639852" cy="4267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4661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F023323-A6FF-1914-7E83-D28AD4618B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9016253B-81D1-C035-3599-958B87714A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it-IT"/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E2CA226A-FBCD-3509-F059-3E4CB7BF81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8258" y="1352260"/>
            <a:ext cx="6687483" cy="4153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4443717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Custom Design">
  <a:themeElements>
    <a:clrScheme name="Custom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Custom Design">
      <a:majorFont>
        <a:latin typeface="Arial"/>
        <a:ea typeface="ＭＳ Ｐゴシック"/>
        <a:cs typeface="Arial"/>
      </a:majorFont>
      <a:minorFont>
        <a:latin typeface="Arial"/>
        <a:ea typeface="ＭＳ Ｐゴシック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 xmlns="">
              <a:effectLst>
                <a:outerShdw blurRad="63500" dist="38099" dir="2700000" algn="ctr" rotWithShape="0">
                  <a:schemeClr val="bg2">
                    <a:alpha val="74998"/>
                  </a:schemeClr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6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 xmlns="">
              <a:effectLst>
                <a:outerShdw blurRad="63500" dist="38099" dir="2700000" algn="ctr" rotWithShape="0">
                  <a:schemeClr val="bg2">
                    <a:alpha val="74998"/>
                  </a:schemeClr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6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charset="0"/>
            <a:cs typeface="Arial" charset="0"/>
          </a:defRPr>
        </a:defPPr>
      </a:lstStyle>
    </a:lnDef>
  </a:objectDefaults>
  <a:extraClrSchemeLst>
    <a:extraClrScheme>
      <a:clrScheme name="Custom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0BEE2EF53EF364F9F6D8A508CF76B68" ma:contentTypeVersion="0" ma:contentTypeDescription="Create a new document." ma:contentTypeScope="" ma:versionID="98039e823b8782ab1432f4cccd09029f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c76ef529c39306168521fdb1fa672548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FFBDBCAC-5FD7-48B7-ABA7-273F2892078E}"/>
</file>

<file path=customXml/itemProps2.xml><?xml version="1.0" encoding="utf-8"?>
<ds:datastoreItem xmlns:ds="http://schemas.openxmlformats.org/officeDocument/2006/customXml" ds:itemID="{41A93FB0-A1E5-4E51-A181-2D4CC1A4D66B}"/>
</file>

<file path=customXml/itemProps3.xml><?xml version="1.0" encoding="utf-8"?>
<ds:datastoreItem xmlns:ds="http://schemas.openxmlformats.org/officeDocument/2006/customXml" ds:itemID="{E850A672-5E65-4C8C-83DF-63CFBEB462F8}"/>
</file>

<file path=docProps/app.xml><?xml version="1.0" encoding="utf-8"?>
<Properties xmlns="http://schemas.openxmlformats.org/officeDocument/2006/extended-properties" xmlns:vt="http://schemas.openxmlformats.org/officeDocument/2006/docPropsVTypes">
  <Template>Default Theme</Template>
  <TotalTime>23982</TotalTime>
  <Words>1932</Words>
  <Application>Microsoft Office PowerPoint</Application>
  <PresentationFormat>Presentazione su schermo (4:3)</PresentationFormat>
  <Paragraphs>224</Paragraphs>
  <Slides>46</Slides>
  <Notes>3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9</vt:i4>
      </vt:variant>
      <vt:variant>
        <vt:lpstr>Tema</vt:lpstr>
      </vt:variant>
      <vt:variant>
        <vt:i4>3</vt:i4>
      </vt:variant>
      <vt:variant>
        <vt:lpstr>Titoli diapositive</vt:lpstr>
      </vt:variant>
      <vt:variant>
        <vt:i4>46</vt:i4>
      </vt:variant>
    </vt:vector>
  </HeadingPairs>
  <TitlesOfParts>
    <vt:vector size="58" baseType="lpstr">
      <vt:lpstr>Abadi MT Condensed Light</vt:lpstr>
      <vt:lpstr>Arial</vt:lpstr>
      <vt:lpstr>Arial Unicode MS</vt:lpstr>
      <vt:lpstr>Bookman Old Style</vt:lpstr>
      <vt:lpstr>Calibri</vt:lpstr>
      <vt:lpstr>Georgia</vt:lpstr>
      <vt:lpstr>Helvetica Light</vt:lpstr>
      <vt:lpstr>Times New Roman</vt:lpstr>
      <vt:lpstr>Wingdings</vt:lpstr>
      <vt:lpstr>Default Theme</vt:lpstr>
      <vt:lpstr>1_Office Theme</vt:lpstr>
      <vt:lpstr>Custom Design</vt:lpstr>
      <vt:lpstr>New infrastructures for Big Data: NoSQL Databases</vt:lpstr>
      <vt:lpstr>VOLUME and VELOCITY</vt:lpstr>
      <vt:lpstr>Transactions</vt:lpstr>
      <vt:lpstr> ACID</vt:lpstr>
      <vt:lpstr>NoSQL databases</vt:lpstr>
      <vt:lpstr>BIG DATA and the Cloud</vt:lpstr>
      <vt:lpstr>NoSQL databases</vt:lpstr>
      <vt:lpstr>DATA MODEL</vt:lpstr>
      <vt:lpstr>Key -Value</vt:lpstr>
      <vt:lpstr>Key-Value: Scaling on multiple nodes</vt:lpstr>
      <vt:lpstr>Map Reduce</vt:lpstr>
      <vt:lpstr>Map-reduce paradigm</vt:lpstr>
      <vt:lpstr>Further Models</vt:lpstr>
      <vt:lpstr>Column -Family 1/2</vt:lpstr>
      <vt:lpstr>Column–Family 2/2</vt:lpstr>
      <vt:lpstr>Column-family: maximum scaling</vt:lpstr>
      <vt:lpstr>Document-based</vt:lpstr>
      <vt:lpstr>The CAP theorem</vt:lpstr>
      <vt:lpstr>The CAP theorem</vt:lpstr>
      <vt:lpstr>SOME FAMOUS IMPLEMENTATIONS</vt:lpstr>
      <vt:lpstr>SOME FAMOUS IMPLEMENTATIONS (II)</vt:lpstr>
      <vt:lpstr>SOME FAMOUS IMPLEMENTATIONS (III)</vt:lpstr>
      <vt:lpstr>SOME FAMOUS IMPLEMENTATIONS (IV)</vt:lpstr>
      <vt:lpstr>SOME FAMOUS IMPLEMENTATIONS (V)</vt:lpstr>
      <vt:lpstr>Different products for different objectives</vt:lpstr>
      <vt:lpstr>Other interesting solutions</vt:lpstr>
      <vt:lpstr>Classification of data architectures</vt:lpstr>
      <vt:lpstr>Data warehouse</vt:lpstr>
      <vt:lpstr>Data lake</vt:lpstr>
      <vt:lpstr>Modern Data Warehouse</vt:lpstr>
      <vt:lpstr>Data Fabric</vt:lpstr>
      <vt:lpstr>Data Lakehouse</vt:lpstr>
      <vt:lpstr>Data Mesh</vt:lpstr>
      <vt:lpstr>Classification of data architectures</vt:lpstr>
      <vt:lpstr>A survey on DMS and DPS</vt:lpstr>
      <vt:lpstr>Taxonomy of data intensive systems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Stefano Paraboschi</cp:lastModifiedBy>
  <cp:revision>23</cp:revision>
  <dcterms:created xsi:type="dcterms:W3CDTF">2019-10-17T15:21:33Z</dcterms:created>
  <dcterms:modified xsi:type="dcterms:W3CDTF">2025-10-31T09:28:00Z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0x010100C0BEE2EF53EF364F9F6D8A508CF76B68</vt:lpwstr>
  </property>
</Properties>
</file>